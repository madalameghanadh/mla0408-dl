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56" r:id="rId2"/>
    <p:sldId id="258" r:id="rId3"/>
    <p:sldId id="259" r:id="rId4"/>
    <p:sldId id="260" r:id="rId5"/>
    <p:sldId id="261" r:id="rId6"/>
    <p:sldId id="263" r:id="rId7"/>
    <p:sldId id="264" r:id="rId8"/>
    <p:sldId id="265" r:id="rId9"/>
    <p:sldId id="267" r:id="rId10"/>
    <p:sldId id="277" r:id="rId11"/>
    <p:sldId id="271" r:id="rId12"/>
    <p:sldId id="272" r:id="rId13"/>
    <p:sldId id="273" r:id="rId14"/>
    <p:sldId id="275"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jR63JltHTVBap/yu1M9NBR4vYa6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DB7AF93-21EB-435C-964D-FB9D89103D86}">
  <a:tblStyle styleId="{4DB7AF93-21EB-435C-964D-FB9D89103D86}"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tcStyle>
        <a:tcBdr/>
      </a:tcStyle>
    </a:lastCol>
    <a:firstCol>
      <a:tcTxStyle b="on" i="off"/>
      <a:tcStyle>
        <a:tcBdr/>
      </a:tcStyle>
    </a:firstCol>
    <a:lastRow>
      <a:tcTxStyle b="on" i="off"/>
      <a:tcStyle>
        <a:tcBdr>
          <a:top>
            <a:ln w="25400" cap="flat" cmpd="sng">
              <a:solidFill>
                <a:schemeClr val="dk1"/>
              </a:solidFill>
              <a:prstDash val="solid"/>
              <a:round/>
              <a:headEnd type="none" w="sm" len="sm"/>
              <a:tailEnd type="none" w="sm" len="sm"/>
            </a:ln>
          </a:top>
        </a:tcBdr>
        <a:fill>
          <a:solidFill>
            <a:srgbClr val="E6E6E6"/>
          </a:solidFill>
        </a:fill>
      </a:tcStyle>
    </a:lastRow>
    <a:seCell>
      <a:tcTxStyle/>
      <a:tcStyle>
        <a:tcBdr/>
      </a:tcStyle>
    </a:seCell>
    <a:swCell>
      <a:tcTxStyle/>
      <a:tcStyle>
        <a:tcBdr/>
      </a:tcStyle>
    </a:swCell>
    <a:firstRow>
      <a:tcTxStyle b="on" i="off"/>
      <a:tcStyle>
        <a:tcBdr/>
        <a:fill>
          <a:solidFill>
            <a:srgbClr val="E6E6E6"/>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78" d="100"/>
          <a:sy n="78" d="100"/>
        </p:scale>
        <p:origin x="78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9" name="Google Shape;9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8" name="Google Shape;18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a:extLst>
            <a:ext uri="{FF2B5EF4-FFF2-40B4-BE49-F238E27FC236}">
              <a16:creationId xmlns:a16="http://schemas.microsoft.com/office/drawing/2014/main" id="{C497BC0D-9A97-7601-AD5F-D686F1778E38}"/>
            </a:ext>
          </a:extLst>
        </p:cNvPr>
        <p:cNvGrpSpPr/>
        <p:nvPr/>
      </p:nvGrpSpPr>
      <p:grpSpPr>
        <a:xfrm>
          <a:off x="0" y="0"/>
          <a:ext cx="0" cy="0"/>
          <a:chOff x="0" y="0"/>
          <a:chExt cx="0" cy="0"/>
        </a:xfrm>
      </p:grpSpPr>
      <p:sp>
        <p:nvSpPr>
          <p:cNvPr id="203" name="Google Shape;203;p12:notes">
            <a:extLst>
              <a:ext uri="{FF2B5EF4-FFF2-40B4-BE49-F238E27FC236}">
                <a16:creationId xmlns:a16="http://schemas.microsoft.com/office/drawing/2014/main" id="{69EB7356-6BFF-1282-B519-2F2AE3E49C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12:notes">
            <a:extLst>
              <a:ext uri="{FF2B5EF4-FFF2-40B4-BE49-F238E27FC236}">
                <a16:creationId xmlns:a16="http://schemas.microsoft.com/office/drawing/2014/main" id="{1F09D955-5252-1AEB-D8B7-27EDCBC01A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3459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8" name="Google Shape;25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6" name="Google Shape;266;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3"/>
        <p:cNvGrpSpPr/>
        <p:nvPr/>
      </p:nvGrpSpPr>
      <p:grpSpPr>
        <a:xfrm>
          <a:off x="0" y="0"/>
          <a:ext cx="0" cy="0"/>
          <a:chOff x="0" y="0"/>
          <a:chExt cx="0" cy="0"/>
        </a:xfrm>
      </p:grpSpPr>
      <p:sp>
        <p:nvSpPr>
          <p:cNvPr id="24" name="Google Shape;2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6.jp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45775" y="1950848"/>
            <a:ext cx="12046225" cy="1437004"/>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Times New Roman"/>
              <a:buNone/>
            </a:pPr>
            <a:r>
              <a:rPr lang="en-US" sz="4400" b="1" dirty="0">
                <a:latin typeface="Times New Roman"/>
                <a:ea typeface="Times New Roman"/>
                <a:cs typeface="Times New Roman"/>
                <a:sym typeface="Times New Roman"/>
              </a:rPr>
              <a:t>Deep Learning-Driven Public Complaint Categorization and Urgency Detection Framework</a:t>
            </a:r>
            <a:endParaRPr sz="4400" b="1" dirty="0">
              <a:latin typeface="Times New Roman"/>
              <a:ea typeface="Times New Roman"/>
              <a:cs typeface="Times New Roman"/>
              <a:sym typeface="Times New Roman"/>
            </a:endParaRPr>
          </a:p>
        </p:txBody>
      </p:sp>
      <p:pic>
        <p:nvPicPr>
          <p:cNvPr id="85" name="Google Shape;85;p1" descr="SSE-Computer Science and Engineering"/>
          <p:cNvPicPr preferRelativeResize="0"/>
          <p:nvPr/>
        </p:nvPicPr>
        <p:blipFill rotWithShape="1">
          <a:blip r:embed="rId3">
            <a:alphaModFix/>
          </a:blip>
          <a:srcRect/>
          <a:stretch/>
        </p:blipFill>
        <p:spPr>
          <a:xfrm>
            <a:off x="619432" y="389267"/>
            <a:ext cx="10953135" cy="1160230"/>
          </a:xfrm>
          <a:prstGeom prst="rect">
            <a:avLst/>
          </a:prstGeom>
          <a:noFill/>
          <a:ln>
            <a:noFill/>
          </a:ln>
        </p:spPr>
      </p:pic>
      <p:sp>
        <p:nvSpPr>
          <p:cNvPr id="86" name="Google Shape;86;p1"/>
          <p:cNvSpPr txBox="1"/>
          <p:nvPr/>
        </p:nvSpPr>
        <p:spPr>
          <a:xfrm>
            <a:off x="3412116" y="3768634"/>
            <a:ext cx="4921453"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0" u="none" strike="noStrike" cap="none">
                <a:solidFill>
                  <a:srgbClr val="FF0000"/>
                </a:solidFill>
                <a:latin typeface="Times New Roman"/>
                <a:ea typeface="Times New Roman"/>
                <a:cs typeface="Times New Roman"/>
                <a:sym typeface="Times New Roman"/>
              </a:rPr>
              <a:t>MLA0408 </a:t>
            </a:r>
            <a:r>
              <a:rPr lang="en-US" sz="2000" b="1" i="0" u="none" strike="noStrike" cap="none" dirty="0">
                <a:solidFill>
                  <a:srgbClr val="FF0000"/>
                </a:solidFill>
                <a:latin typeface="Times New Roman"/>
                <a:ea typeface="Times New Roman"/>
                <a:cs typeface="Times New Roman"/>
                <a:sym typeface="Times New Roman"/>
              </a:rPr>
              <a:t>- Deep </a:t>
            </a:r>
            <a:r>
              <a:rPr lang="en-US" sz="2000" b="1" i="0" u="none" strike="noStrike" cap="none">
                <a:solidFill>
                  <a:srgbClr val="FF0000"/>
                </a:solidFill>
                <a:latin typeface="Times New Roman"/>
                <a:ea typeface="Times New Roman"/>
                <a:cs typeface="Times New Roman"/>
                <a:sym typeface="Times New Roman"/>
              </a:rPr>
              <a:t>Learning </a:t>
            </a:r>
            <a:endParaRPr sz="2000" b="1" dirty="0">
              <a:solidFill>
                <a:srgbClr val="FF0000"/>
              </a:solidFill>
              <a:latin typeface="Times New Roman"/>
              <a:ea typeface="Times New Roman"/>
              <a:cs typeface="Times New Roman"/>
              <a:sym typeface="Times New Roman"/>
            </a:endParaRPr>
          </a:p>
        </p:txBody>
      </p:sp>
      <p:sp>
        <p:nvSpPr>
          <p:cNvPr id="87" name="Google Shape;87;p1"/>
          <p:cNvSpPr txBox="1"/>
          <p:nvPr/>
        </p:nvSpPr>
        <p:spPr>
          <a:xfrm>
            <a:off x="619432" y="4498036"/>
            <a:ext cx="3938454" cy="1200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u="none" dirty="0">
                <a:solidFill>
                  <a:schemeClr val="dk1"/>
                </a:solidFill>
                <a:latin typeface="Times New Roman"/>
                <a:ea typeface="Times New Roman"/>
                <a:cs typeface="Times New Roman"/>
                <a:sym typeface="Times New Roman"/>
              </a:rPr>
              <a:t>Faculty</a:t>
            </a:r>
            <a:br>
              <a:rPr lang="en-US" sz="1800" b="1" u="none" dirty="0">
                <a:solidFill>
                  <a:schemeClr val="dk1"/>
                </a:solidFill>
                <a:latin typeface="Times New Roman"/>
                <a:ea typeface="Times New Roman"/>
                <a:cs typeface="Times New Roman"/>
                <a:sym typeface="Times New Roman"/>
              </a:rPr>
            </a:br>
            <a:r>
              <a:rPr lang="en-US" sz="1800" u="none" dirty="0">
                <a:solidFill>
                  <a:schemeClr val="dk1"/>
                </a:solidFill>
                <a:latin typeface="Times New Roman"/>
                <a:ea typeface="Times New Roman"/>
                <a:cs typeface="Times New Roman"/>
                <a:sym typeface="Times New Roman"/>
              </a:rPr>
              <a:t>DR.D.SUDHAGAR</a:t>
            </a:r>
          </a:p>
          <a:p>
            <a:pPr marL="0" marR="0" lvl="0" indent="0" algn="l" rtl="0">
              <a:spcBef>
                <a:spcPts val="0"/>
              </a:spcBef>
              <a:spcAft>
                <a:spcPts val="0"/>
              </a:spcAft>
              <a:buNone/>
            </a:pPr>
            <a:r>
              <a:rPr lang="en-US" sz="1800" b="0" u="none" dirty="0">
                <a:solidFill>
                  <a:schemeClr val="dk1"/>
                </a:solidFill>
                <a:latin typeface="Times New Roman"/>
                <a:ea typeface="Times New Roman"/>
                <a:cs typeface="Times New Roman"/>
                <a:sym typeface="Times New Roman"/>
              </a:rPr>
              <a:t>Dept. of CSE</a:t>
            </a:r>
            <a:endParaRPr sz="1800" b="0" u="none"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US" sz="1800" b="0" u="none" dirty="0">
                <a:solidFill>
                  <a:schemeClr val="dk1"/>
                </a:solidFill>
                <a:latin typeface="Times New Roman"/>
                <a:ea typeface="Times New Roman"/>
                <a:cs typeface="Times New Roman"/>
                <a:sym typeface="Times New Roman"/>
              </a:rPr>
              <a:t>SIMATS Engineering</a:t>
            </a:r>
            <a:endParaRPr sz="1800" b="0" u="none" dirty="0">
              <a:solidFill>
                <a:schemeClr val="dk1"/>
              </a:solidFill>
              <a:latin typeface="Times New Roman"/>
              <a:ea typeface="Times New Roman"/>
              <a:cs typeface="Times New Roman"/>
              <a:sym typeface="Times New Roman"/>
            </a:endParaRPr>
          </a:p>
        </p:txBody>
      </p:sp>
      <p:sp>
        <p:nvSpPr>
          <p:cNvPr id="88" name="Google Shape;88;p1"/>
          <p:cNvSpPr txBox="1"/>
          <p:nvPr/>
        </p:nvSpPr>
        <p:spPr>
          <a:xfrm>
            <a:off x="6496216" y="4562708"/>
            <a:ext cx="5076351" cy="14772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u="none" dirty="0">
                <a:solidFill>
                  <a:schemeClr val="dk1"/>
                </a:solidFill>
                <a:latin typeface="Times New Roman"/>
                <a:ea typeface="Times New Roman"/>
                <a:cs typeface="Times New Roman"/>
                <a:sym typeface="Times New Roman"/>
              </a:rPr>
              <a:t>J.RAJU(192325117)</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K. Hema Sai Siddartha(192325036)</a:t>
            </a:r>
          </a:p>
          <a:p>
            <a:pPr marL="0" marR="0" lvl="0" indent="0" algn="l" rtl="0">
              <a:spcBef>
                <a:spcPts val="0"/>
              </a:spcBef>
              <a:spcAft>
                <a:spcPts val="0"/>
              </a:spcAft>
              <a:buNone/>
            </a:pPr>
            <a:r>
              <a:rPr lang="en-US" sz="1800" dirty="0">
                <a:solidFill>
                  <a:schemeClr val="dk1"/>
                </a:solidFill>
                <a:latin typeface="Times New Roman"/>
                <a:ea typeface="Times New Roman"/>
                <a:cs typeface="Times New Roman"/>
                <a:sym typeface="Times New Roman"/>
              </a:rPr>
              <a:t>M.MEGHANADH(192325026)</a:t>
            </a:r>
          </a:p>
          <a:p>
            <a:pPr marL="0" marR="0" lvl="0" indent="0" algn="l" rtl="0">
              <a:spcBef>
                <a:spcPts val="0"/>
              </a:spcBef>
              <a:spcAft>
                <a:spcPts val="0"/>
              </a:spcAft>
              <a:buNone/>
            </a:pPr>
            <a:r>
              <a:rPr lang="en-US" sz="1800" b="0" u="none" dirty="0">
                <a:solidFill>
                  <a:schemeClr val="dk1"/>
                </a:solidFill>
                <a:latin typeface="Times New Roman"/>
                <a:ea typeface="Times New Roman"/>
                <a:cs typeface="Times New Roman"/>
                <a:sym typeface="Times New Roman"/>
              </a:rPr>
              <a:t>K.NAGESH REDDY(192325083)</a:t>
            </a:r>
          </a:p>
          <a:p>
            <a:pPr marL="0" marR="0" lvl="0" indent="0" algn="l" rtl="0">
              <a:spcBef>
                <a:spcPts val="0"/>
              </a:spcBef>
              <a:spcAft>
                <a:spcPts val="0"/>
              </a:spcAft>
              <a:buNone/>
            </a:pPr>
            <a:r>
              <a:rPr lang="en-US" sz="1800" b="0" u="none" dirty="0">
                <a:solidFill>
                  <a:schemeClr val="dk1"/>
                </a:solidFill>
                <a:latin typeface="Times New Roman"/>
                <a:ea typeface="Times New Roman"/>
                <a:cs typeface="Times New Roman"/>
                <a:sym typeface="Times New Roman"/>
              </a:rPr>
              <a:t>SIMATS Engineering</a:t>
            </a:r>
            <a:endParaRPr sz="1800" b="0" u="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
          <p:cNvSpPr txBox="1">
            <a:spLocks noGrp="1"/>
          </p:cNvSpPr>
          <p:nvPr>
            <p:ph type="title"/>
          </p:nvPr>
        </p:nvSpPr>
        <p:spPr>
          <a:xfrm>
            <a:off x="3470867" y="538786"/>
            <a:ext cx="4935070" cy="134797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US" sz="3600" b="1" dirty="0">
                <a:latin typeface="Times New Roman"/>
                <a:ea typeface="Times New Roman"/>
                <a:cs typeface="Times New Roman"/>
                <a:sym typeface="Times New Roman"/>
              </a:rPr>
              <a:t>INTRODUCTION</a:t>
            </a:r>
            <a:endParaRPr sz="3600" dirty="0"/>
          </a:p>
        </p:txBody>
      </p:sp>
      <p:pic>
        <p:nvPicPr>
          <p:cNvPr id="102" name="Google Shape;102;p3" descr="A logo with blue green and orange letters&#10;&#10;AI-generated content may be incorrect."/>
          <p:cNvPicPr preferRelativeResize="0"/>
          <p:nvPr/>
        </p:nvPicPr>
        <p:blipFill rotWithShape="1">
          <a:blip r:embed="rId3">
            <a:alphaModFix/>
          </a:blip>
          <a:srcRect/>
          <a:stretch/>
        </p:blipFill>
        <p:spPr>
          <a:xfrm>
            <a:off x="834264" y="369812"/>
            <a:ext cx="1419225" cy="1685925"/>
          </a:xfrm>
          <a:prstGeom prst="rect">
            <a:avLst/>
          </a:prstGeom>
          <a:noFill/>
          <a:ln>
            <a:noFill/>
          </a:ln>
        </p:spPr>
      </p:pic>
      <p:pic>
        <p:nvPicPr>
          <p:cNvPr id="103" name="Google Shape;103;p3" descr="A blue gear with a symbol and text&#10;&#10;AI-generated content may be incorrect."/>
          <p:cNvPicPr preferRelativeResize="0"/>
          <p:nvPr/>
        </p:nvPicPr>
        <p:blipFill rotWithShape="1">
          <a:blip r:embed="rId4">
            <a:alphaModFix/>
          </a:blip>
          <a:srcRect/>
          <a:stretch/>
        </p:blipFill>
        <p:spPr>
          <a:xfrm>
            <a:off x="9623316" y="369811"/>
            <a:ext cx="1905000" cy="1685925"/>
          </a:xfrm>
          <a:prstGeom prst="rect">
            <a:avLst/>
          </a:prstGeom>
          <a:noFill/>
          <a:ln>
            <a:noFill/>
          </a:ln>
        </p:spPr>
      </p:pic>
      <p:sp>
        <p:nvSpPr>
          <p:cNvPr id="104" name="Google Shape;104;p3"/>
          <p:cNvSpPr/>
          <p:nvPr/>
        </p:nvSpPr>
        <p:spPr>
          <a:xfrm>
            <a:off x="435984" y="1982116"/>
            <a:ext cx="7179437" cy="4524275"/>
          </a:xfrm>
          <a:prstGeom prst="rect">
            <a:avLst/>
          </a:prstGeom>
          <a:noFill/>
          <a:ln>
            <a:noFill/>
          </a:ln>
        </p:spPr>
        <p:txBody>
          <a:bodyPr spcFirstLastPara="1" wrap="square" lIns="91425" tIns="45700" rIns="91425" bIns="45700" anchor="ctr" anchorCtr="0">
            <a:spAutoFit/>
          </a:bodyPr>
          <a:lstStyle/>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Times New Roman"/>
                <a:ea typeface="Times New Roman"/>
                <a:cs typeface="Times New Roman"/>
                <a:sym typeface="Times New Roman"/>
              </a:rPr>
              <a:t>In the era of digital governance, citizens frequently submit complaints through online portals, mobile applications, and social media platforms. These complaints address issues related to civic infrastructure, public utilities, safety, and government services. However, most public grievance redressal systems rely heavily on manual processing, where officials read and categorize each complaint individually.</a:t>
            </a:r>
            <a:endParaRPr dirty="0"/>
          </a:p>
          <a:p>
            <a:pPr marL="0" marR="0" lvl="0" indent="0" algn="just"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Times New Roman"/>
                <a:ea typeface="Times New Roman"/>
                <a:cs typeface="Times New Roman"/>
                <a:sym typeface="Times New Roman"/>
              </a:rPr>
              <a:t>Automatically categorizing complaint text</a:t>
            </a:r>
            <a:endParaRPr dirty="0"/>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Times New Roman"/>
                <a:ea typeface="Times New Roman"/>
                <a:cs typeface="Times New Roman"/>
                <a:sym typeface="Times New Roman"/>
              </a:rPr>
              <a:t>Detecting urgency levels</a:t>
            </a:r>
            <a:endParaRPr dirty="0"/>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Times New Roman"/>
                <a:ea typeface="Times New Roman"/>
                <a:cs typeface="Times New Roman"/>
                <a:sym typeface="Times New Roman"/>
              </a:rPr>
              <a:t>Identifying critical public safety concerns</a:t>
            </a:r>
            <a:endParaRPr dirty="0"/>
          </a:p>
          <a:p>
            <a:pPr marL="285750" marR="0" lvl="0" indent="-285750" algn="just" rtl="0">
              <a:lnSpc>
                <a:spcPct val="150000"/>
              </a:lnSpc>
              <a:spcBef>
                <a:spcPts val="0"/>
              </a:spcBef>
              <a:spcAft>
                <a:spcPts val="0"/>
              </a:spcAft>
              <a:buClr>
                <a:schemeClr val="dk1"/>
              </a:buClr>
              <a:buSzPts val="1800"/>
              <a:buFont typeface="Noto Sans Symbols"/>
              <a:buChar char="⮚"/>
            </a:pPr>
            <a:r>
              <a:rPr lang="en-US" sz="1800" dirty="0">
                <a:solidFill>
                  <a:schemeClr val="dk1"/>
                </a:solidFill>
                <a:latin typeface="Times New Roman"/>
                <a:ea typeface="Times New Roman"/>
                <a:cs typeface="Times New Roman"/>
                <a:sym typeface="Times New Roman"/>
              </a:rPr>
              <a:t>Assisting authorities in prioritizing responses</a:t>
            </a:r>
            <a:endParaRPr dirty="0"/>
          </a:p>
        </p:txBody>
      </p:sp>
      <p:pic>
        <p:nvPicPr>
          <p:cNvPr id="105" name="Google Shape;105;p3" descr="How to contact District Superintendent of Police (SP) of Maharashtra Police?  - Legal - Complaint Hub Citizen Community"/>
          <p:cNvPicPr preferRelativeResize="0"/>
          <p:nvPr/>
        </p:nvPicPr>
        <p:blipFill rotWithShape="1">
          <a:blip r:embed="rId5">
            <a:alphaModFix/>
          </a:blip>
          <a:srcRect/>
          <a:stretch/>
        </p:blipFill>
        <p:spPr>
          <a:xfrm>
            <a:off x="7710616" y="2985985"/>
            <a:ext cx="4115490" cy="235170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9"/>
        <p:cNvGrpSpPr/>
        <p:nvPr/>
      </p:nvGrpSpPr>
      <p:grpSpPr>
        <a:xfrm>
          <a:off x="0" y="0"/>
          <a:ext cx="0" cy="0"/>
          <a:chOff x="0" y="0"/>
          <a:chExt cx="0" cy="0"/>
        </a:xfrm>
      </p:grpSpPr>
      <p:sp>
        <p:nvSpPr>
          <p:cNvPr id="110" name="Google Shape;110;p4"/>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11" name="Google Shape;111;p4"/>
          <p:cNvGrpSpPr/>
          <p:nvPr/>
        </p:nvGrpSpPr>
        <p:grpSpPr>
          <a:xfrm>
            <a:off x="4" y="1216597"/>
            <a:ext cx="731521" cy="673460"/>
            <a:chOff x="3940602" y="308034"/>
            <a:chExt cx="2116791" cy="3428999"/>
          </a:xfrm>
        </p:grpSpPr>
        <p:sp>
          <p:nvSpPr>
            <p:cNvPr id="112" name="Google Shape;112;p4"/>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3" name="Google Shape;113;p4"/>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4" name="Google Shape;114;p4"/>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15" name="Google Shape;115;p4"/>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4"/>
          <p:cNvSpPr txBox="1">
            <a:spLocks noGrp="1"/>
          </p:cNvSpPr>
          <p:nvPr>
            <p:ph type="title"/>
          </p:nvPr>
        </p:nvSpPr>
        <p:spPr>
          <a:xfrm>
            <a:off x="998779" y="783772"/>
            <a:ext cx="10173010" cy="155448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PROBLEM STATEMENT</a:t>
            </a:r>
            <a:endParaRPr sz="3600" b="1">
              <a:latin typeface="Times New Roman"/>
              <a:ea typeface="Times New Roman"/>
              <a:cs typeface="Times New Roman"/>
              <a:sym typeface="Times New Roman"/>
            </a:endParaRPr>
          </a:p>
        </p:txBody>
      </p:sp>
      <p:cxnSp>
        <p:nvCxnSpPr>
          <p:cNvPr id="117" name="Google Shape;117;p4"/>
          <p:cNvCxnSpPr/>
          <p:nvPr/>
        </p:nvCxnSpPr>
        <p:spPr>
          <a:xfrm rot="10800000">
            <a:off x="838200" y="6485313"/>
            <a:ext cx="10515600" cy="0"/>
          </a:xfrm>
          <a:prstGeom prst="straightConnector1">
            <a:avLst/>
          </a:prstGeom>
          <a:noFill/>
          <a:ln w="57150" cap="flat" cmpd="sng">
            <a:solidFill>
              <a:schemeClr val="accent4"/>
            </a:solidFill>
            <a:prstDash val="solid"/>
            <a:miter lim="8000"/>
            <a:headEnd type="none" w="sm" len="sm"/>
            <a:tailEnd type="none" w="sm" len="sm"/>
          </a:ln>
        </p:spPr>
      </p:cxnSp>
      <p:grpSp>
        <p:nvGrpSpPr>
          <p:cNvPr id="118" name="Google Shape;118;p4"/>
          <p:cNvGrpSpPr/>
          <p:nvPr/>
        </p:nvGrpSpPr>
        <p:grpSpPr>
          <a:xfrm>
            <a:off x="1739806" y="3204127"/>
            <a:ext cx="8955822" cy="2735750"/>
            <a:chOff x="2850" y="304167"/>
            <a:chExt cx="8955822" cy="2735750"/>
          </a:xfrm>
        </p:grpSpPr>
        <p:sp>
          <p:nvSpPr>
            <p:cNvPr id="119" name="Google Shape;119;p4"/>
            <p:cNvSpPr/>
            <p:nvPr/>
          </p:nvSpPr>
          <p:spPr>
            <a:xfrm>
              <a:off x="2850" y="304167"/>
              <a:ext cx="3658505" cy="2286942"/>
            </a:xfrm>
            <a:prstGeom prst="roundRect">
              <a:avLst>
                <a:gd name="adj" fmla="val 10000"/>
              </a:avLst>
            </a:prstGeom>
            <a:solidFill>
              <a:schemeClr val="dk2"/>
            </a:solidFill>
            <a:ln w="127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444363" y="723604"/>
              <a:ext cx="3658505" cy="2286942"/>
            </a:xfrm>
            <a:prstGeom prst="roundRect">
              <a:avLst>
                <a:gd name="adj" fmla="val 10000"/>
              </a:avLst>
            </a:prstGeom>
            <a:solidFill>
              <a:schemeClr val="lt2">
                <a:alpha val="90196"/>
              </a:schemeClr>
            </a:solidFill>
            <a:ln w="12700" cap="flat" cmpd="sng">
              <a:solidFill>
                <a:schemeClr val="dk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txBox="1"/>
            <p:nvPr/>
          </p:nvSpPr>
          <p:spPr>
            <a:xfrm>
              <a:off x="511345" y="790586"/>
              <a:ext cx="3524541" cy="2152978"/>
            </a:xfrm>
            <a:prstGeom prst="rect">
              <a:avLst/>
            </a:prstGeom>
            <a:noFill/>
            <a:ln>
              <a:noFill/>
            </a:ln>
          </p:spPr>
          <p:txBody>
            <a:bodyPr spcFirstLastPara="1" wrap="square" lIns="76200" tIns="76200" rIns="76200" bIns="76200" anchor="ctr" anchorCtr="0">
              <a:noAutofit/>
            </a:bodyPr>
            <a:lstStyle/>
            <a:p>
              <a:pPr marL="0" marR="0" lvl="0" indent="0" algn="just" rtl="0">
                <a:lnSpc>
                  <a:spcPct val="100000"/>
                </a:lnSpc>
                <a:spcBef>
                  <a:spcPts val="0"/>
                </a:spcBef>
                <a:spcAft>
                  <a:spcPts val="0"/>
                </a:spcAft>
                <a:buClr>
                  <a:schemeClr val="dk1"/>
                </a:buClr>
                <a:buSzPts val="2000"/>
                <a:buFont typeface="Times New Roman"/>
                <a:buNone/>
              </a:pPr>
              <a:r>
                <a:rPr lang="en-US" sz="2000" b="0" i="0">
                  <a:solidFill>
                    <a:schemeClr val="dk1"/>
                  </a:solidFill>
                  <a:latin typeface="Times New Roman"/>
                  <a:ea typeface="Times New Roman"/>
                  <a:cs typeface="Times New Roman"/>
                  <a:sym typeface="Times New Roman"/>
                </a:rPr>
                <a:t>Complaints are reviewed and categorized manually</a:t>
              </a:r>
              <a:endParaRPr/>
            </a:p>
            <a:p>
              <a:pPr marL="0" marR="0" lvl="0" indent="0" algn="just" rtl="0">
                <a:lnSpc>
                  <a:spcPct val="100000"/>
                </a:lnSpc>
                <a:spcBef>
                  <a:spcPts val="700"/>
                </a:spcBef>
                <a:spcAft>
                  <a:spcPts val="0"/>
                </a:spcAft>
                <a:buClr>
                  <a:schemeClr val="dk1"/>
                </a:buClr>
                <a:buSzPts val="2000"/>
                <a:buFont typeface="Arial"/>
                <a:buNone/>
              </a:pPr>
              <a:r>
                <a:rPr lang="en-US" sz="2000" b="0" i="0">
                  <a:solidFill>
                    <a:schemeClr val="dk1"/>
                  </a:solidFill>
                  <a:latin typeface="Times New Roman"/>
                  <a:ea typeface="Times New Roman"/>
                  <a:cs typeface="Times New Roman"/>
                  <a:sym typeface="Times New Roman"/>
                </a:rPr>
                <a:t>No automatic urgency detection mechanism</a:t>
              </a:r>
              <a:endParaRPr/>
            </a:p>
            <a:p>
              <a:pPr marL="0" marR="0" lvl="0" indent="0" algn="just" rtl="0">
                <a:lnSpc>
                  <a:spcPct val="100000"/>
                </a:lnSpc>
                <a:spcBef>
                  <a:spcPts val="700"/>
                </a:spcBef>
                <a:spcAft>
                  <a:spcPts val="0"/>
                </a:spcAft>
                <a:buClr>
                  <a:schemeClr val="dk1"/>
                </a:buClr>
                <a:buSzPts val="2000"/>
                <a:buFont typeface="Arial"/>
                <a:buNone/>
              </a:pPr>
              <a:r>
                <a:rPr lang="en-US" sz="2000" b="0" i="0">
                  <a:solidFill>
                    <a:schemeClr val="dk1"/>
                  </a:solidFill>
                  <a:latin typeface="Times New Roman"/>
                  <a:ea typeface="Times New Roman"/>
                  <a:cs typeface="Times New Roman"/>
                  <a:sym typeface="Times New Roman"/>
                </a:rPr>
                <a:t>Increased response time and reduced efficiency</a:t>
              </a:r>
              <a:endParaRPr sz="2000">
                <a:solidFill>
                  <a:schemeClr val="dk1"/>
                </a:solidFill>
                <a:latin typeface="Times New Roman"/>
                <a:ea typeface="Times New Roman"/>
                <a:cs typeface="Times New Roman"/>
                <a:sym typeface="Times New Roman"/>
              </a:endParaRPr>
            </a:p>
          </p:txBody>
        </p:sp>
        <p:sp>
          <p:nvSpPr>
            <p:cNvPr id="122" name="Google Shape;122;p4"/>
            <p:cNvSpPr/>
            <p:nvPr/>
          </p:nvSpPr>
          <p:spPr>
            <a:xfrm>
              <a:off x="4544381" y="304167"/>
              <a:ext cx="3972778" cy="2316313"/>
            </a:xfrm>
            <a:prstGeom prst="roundRect">
              <a:avLst>
                <a:gd name="adj" fmla="val 10000"/>
              </a:avLst>
            </a:prstGeom>
            <a:solidFill>
              <a:schemeClr val="dk2"/>
            </a:solidFill>
            <a:ln w="12700" cap="flat" cmpd="sng">
              <a:solidFill>
                <a:schemeClr val="lt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985894" y="723604"/>
              <a:ext cx="3972778" cy="2316313"/>
            </a:xfrm>
            <a:prstGeom prst="roundRect">
              <a:avLst>
                <a:gd name="adj" fmla="val 10000"/>
              </a:avLst>
            </a:prstGeom>
            <a:solidFill>
              <a:schemeClr val="lt2">
                <a:alpha val="90196"/>
              </a:schemeClr>
            </a:solidFill>
            <a:ln w="12700" cap="flat" cmpd="sng">
              <a:solidFill>
                <a:schemeClr val="dk2"/>
              </a:solidFill>
              <a:prstDash val="solid"/>
              <a:miter lim="8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txBox="1"/>
            <p:nvPr/>
          </p:nvSpPr>
          <p:spPr>
            <a:xfrm>
              <a:off x="5053736" y="791446"/>
              <a:ext cx="3837094" cy="2180629"/>
            </a:xfrm>
            <a:prstGeom prst="rect">
              <a:avLst/>
            </a:prstGeom>
            <a:noFill/>
            <a:ln>
              <a:noFill/>
            </a:ln>
          </p:spPr>
          <p:txBody>
            <a:bodyPr spcFirstLastPara="1" wrap="square" lIns="76200" tIns="76200" rIns="76200" bIns="76200" anchor="ctr" anchorCtr="0">
              <a:noAutofit/>
            </a:bodyPr>
            <a:lstStyle/>
            <a:p>
              <a:pPr marL="0" marR="0" lvl="0" indent="0" algn="just" rtl="0">
                <a:lnSpc>
                  <a:spcPct val="100000"/>
                </a:lnSpc>
                <a:spcBef>
                  <a:spcPts val="0"/>
                </a:spcBef>
                <a:spcAft>
                  <a:spcPts val="0"/>
                </a:spcAft>
                <a:buClr>
                  <a:schemeClr val="dk1"/>
                </a:buClr>
                <a:buSzPts val="2000"/>
                <a:buFont typeface="Times New Roman"/>
                <a:buNone/>
              </a:pPr>
              <a:r>
                <a:rPr lang="en-US" sz="2000" b="0" i="0">
                  <a:solidFill>
                    <a:schemeClr val="dk1"/>
                  </a:solidFill>
                  <a:latin typeface="Times New Roman"/>
                  <a:ea typeface="Times New Roman"/>
                  <a:cs typeface="Times New Roman"/>
                  <a:sym typeface="Times New Roman"/>
                </a:rPr>
                <a:t>AI-powered automated complaint classification</a:t>
              </a:r>
              <a:endParaRPr/>
            </a:p>
            <a:p>
              <a:pPr marL="0" marR="0" lvl="0" indent="0" algn="just" rtl="0">
                <a:lnSpc>
                  <a:spcPct val="100000"/>
                </a:lnSpc>
                <a:spcBef>
                  <a:spcPts val="700"/>
                </a:spcBef>
                <a:spcAft>
                  <a:spcPts val="0"/>
                </a:spcAft>
                <a:buClr>
                  <a:schemeClr val="dk1"/>
                </a:buClr>
                <a:buSzPts val="2000"/>
                <a:buFont typeface="Arial"/>
                <a:buNone/>
              </a:pPr>
              <a:r>
                <a:rPr lang="en-US" sz="2000" b="0" i="0">
                  <a:solidFill>
                    <a:schemeClr val="dk1"/>
                  </a:solidFill>
                  <a:latin typeface="Times New Roman"/>
                  <a:ea typeface="Times New Roman"/>
                  <a:cs typeface="Times New Roman"/>
                  <a:sym typeface="Times New Roman"/>
                </a:rPr>
                <a:t>Deep Learning model for urgency prediction (High / Medium / Low)</a:t>
              </a:r>
              <a:endParaRPr/>
            </a:p>
            <a:p>
              <a:pPr marL="0" marR="0" lvl="0" indent="0" algn="just" rtl="0">
                <a:lnSpc>
                  <a:spcPct val="100000"/>
                </a:lnSpc>
                <a:spcBef>
                  <a:spcPts val="700"/>
                </a:spcBef>
                <a:spcAft>
                  <a:spcPts val="0"/>
                </a:spcAft>
                <a:buClr>
                  <a:schemeClr val="dk1"/>
                </a:buClr>
                <a:buSzPts val="2000"/>
                <a:buFont typeface="Arial"/>
                <a:buNone/>
              </a:pPr>
              <a:r>
                <a:rPr lang="en-US" sz="2000" b="0" i="0">
                  <a:solidFill>
                    <a:schemeClr val="dk1"/>
                  </a:solidFill>
                  <a:latin typeface="Times New Roman"/>
                  <a:ea typeface="Times New Roman"/>
                  <a:cs typeface="Times New Roman"/>
                  <a:sym typeface="Times New Roman"/>
                </a:rPr>
                <a:t>Improved accuracy and reduced manual workload</a:t>
              </a:r>
              <a:endParaRPr sz="2000">
                <a:solidFill>
                  <a:schemeClr val="dk1"/>
                </a:solidFill>
                <a:latin typeface="Times New Roman"/>
                <a:ea typeface="Times New Roman"/>
                <a:cs typeface="Times New Roman"/>
                <a:sym typeface="Times New Roman"/>
              </a:endParaRPr>
            </a:p>
          </p:txBody>
        </p:sp>
      </p:grpSp>
      <p:pic>
        <p:nvPicPr>
          <p:cNvPr id="125" name="Google Shape;125;p4" descr="A logo with blue green and orange letters&#10;&#10;AI-generated content may be incorrect."/>
          <p:cNvPicPr preferRelativeResize="0"/>
          <p:nvPr/>
        </p:nvPicPr>
        <p:blipFill rotWithShape="1">
          <a:blip r:embed="rId3">
            <a:alphaModFix/>
          </a:blip>
          <a:srcRect/>
          <a:stretch/>
        </p:blipFill>
        <p:spPr>
          <a:xfrm>
            <a:off x="907333" y="609894"/>
            <a:ext cx="1419225" cy="1685925"/>
          </a:xfrm>
          <a:prstGeom prst="rect">
            <a:avLst/>
          </a:prstGeom>
          <a:noFill/>
          <a:ln>
            <a:noFill/>
          </a:ln>
        </p:spPr>
      </p:pic>
      <p:pic>
        <p:nvPicPr>
          <p:cNvPr id="126" name="Google Shape;126;p4" descr="A blue gear with a symbol and text&#10;&#10;AI-generated content may be incorrect."/>
          <p:cNvPicPr preferRelativeResize="0"/>
          <p:nvPr/>
        </p:nvPicPr>
        <p:blipFill rotWithShape="1">
          <a:blip r:embed="rId4">
            <a:alphaModFix/>
          </a:blip>
          <a:srcRect/>
          <a:stretch/>
        </p:blipFill>
        <p:spPr>
          <a:xfrm>
            <a:off x="9644193" y="609893"/>
            <a:ext cx="1905000" cy="1685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5" descr="A screen shot of a phone&#10;&#10;AI-generated content may be incorrect."/>
          <p:cNvPicPr preferRelativeResize="0"/>
          <p:nvPr/>
        </p:nvPicPr>
        <p:blipFill rotWithShape="1">
          <a:blip r:embed="rId3">
            <a:alphaModFix/>
          </a:blip>
          <a:srcRect/>
          <a:stretch/>
        </p:blipFill>
        <p:spPr>
          <a:xfrm>
            <a:off x="912866" y="2182694"/>
            <a:ext cx="873669" cy="4177647"/>
          </a:xfrm>
          <a:prstGeom prst="rect">
            <a:avLst/>
          </a:prstGeom>
          <a:noFill/>
          <a:ln>
            <a:noFill/>
          </a:ln>
        </p:spPr>
      </p:pic>
      <p:pic>
        <p:nvPicPr>
          <p:cNvPr id="132" name="Google Shape;132;p5" descr="A logo with blue green and orange letters&#10;&#10;AI-generated content may be incorrect."/>
          <p:cNvPicPr preferRelativeResize="0"/>
          <p:nvPr/>
        </p:nvPicPr>
        <p:blipFill rotWithShape="1">
          <a:blip r:embed="rId4">
            <a:alphaModFix/>
          </a:blip>
          <a:srcRect/>
          <a:stretch/>
        </p:blipFill>
        <p:spPr>
          <a:xfrm>
            <a:off x="707114" y="186224"/>
            <a:ext cx="1285174" cy="1526683"/>
          </a:xfrm>
          <a:prstGeom prst="rect">
            <a:avLst/>
          </a:prstGeom>
          <a:noFill/>
          <a:ln>
            <a:noFill/>
          </a:ln>
        </p:spPr>
      </p:pic>
      <p:sp>
        <p:nvSpPr>
          <p:cNvPr id="133" name="Google Shape;133;p5"/>
          <p:cNvSpPr txBox="1"/>
          <p:nvPr/>
        </p:nvSpPr>
        <p:spPr>
          <a:xfrm>
            <a:off x="733002" y="607186"/>
            <a:ext cx="10515600" cy="684758"/>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3600"/>
              <a:buFont typeface="Times New Roman"/>
              <a:buNone/>
            </a:pPr>
            <a:r>
              <a:rPr lang="en-US" sz="3600" b="1">
                <a:solidFill>
                  <a:schemeClr val="dk1"/>
                </a:solidFill>
                <a:latin typeface="Times New Roman"/>
                <a:ea typeface="Times New Roman"/>
                <a:cs typeface="Times New Roman"/>
                <a:sym typeface="Times New Roman"/>
              </a:rPr>
              <a:t>OBJECTIVES</a:t>
            </a:r>
            <a:endParaRPr sz="3600" b="1">
              <a:solidFill>
                <a:schemeClr val="dk1"/>
              </a:solidFill>
              <a:latin typeface="Times New Roman"/>
              <a:ea typeface="Times New Roman"/>
              <a:cs typeface="Times New Roman"/>
              <a:sym typeface="Times New Roman"/>
            </a:endParaRPr>
          </a:p>
        </p:txBody>
      </p:sp>
      <p:pic>
        <p:nvPicPr>
          <p:cNvPr id="134" name="Google Shape;134;p5" descr="A blue gear with a symbol and text&#10;&#10;AI-generated content may be incorrect."/>
          <p:cNvPicPr preferRelativeResize="0"/>
          <p:nvPr/>
        </p:nvPicPr>
        <p:blipFill rotWithShape="1">
          <a:blip r:embed="rId5">
            <a:alphaModFix/>
          </a:blip>
          <a:srcRect/>
          <a:stretch/>
        </p:blipFill>
        <p:spPr>
          <a:xfrm>
            <a:off x="9993713" y="186224"/>
            <a:ext cx="1725066" cy="1526683"/>
          </a:xfrm>
          <a:prstGeom prst="rect">
            <a:avLst/>
          </a:prstGeom>
          <a:noFill/>
          <a:ln>
            <a:noFill/>
          </a:ln>
        </p:spPr>
      </p:pic>
      <p:sp>
        <p:nvSpPr>
          <p:cNvPr id="135" name="Google Shape;135;p5"/>
          <p:cNvSpPr txBox="1"/>
          <p:nvPr/>
        </p:nvSpPr>
        <p:spPr>
          <a:xfrm>
            <a:off x="2067239" y="2379516"/>
            <a:ext cx="4121392" cy="64516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Develop automated complaint classification model</a:t>
            </a:r>
            <a:endParaRPr/>
          </a:p>
        </p:txBody>
      </p:sp>
      <p:sp>
        <p:nvSpPr>
          <p:cNvPr id="136" name="Google Shape;136;p5"/>
          <p:cNvSpPr txBox="1"/>
          <p:nvPr/>
        </p:nvSpPr>
        <p:spPr>
          <a:xfrm>
            <a:off x="2067239" y="3358908"/>
            <a:ext cx="4227858" cy="646331"/>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Detect urgency levels (High / Medium / Low)</a:t>
            </a:r>
            <a:endParaRPr/>
          </a:p>
        </p:txBody>
      </p:sp>
      <p:sp>
        <p:nvSpPr>
          <p:cNvPr id="137" name="Google Shape;137;p5"/>
          <p:cNvSpPr txBox="1"/>
          <p:nvPr/>
        </p:nvSpPr>
        <p:spPr>
          <a:xfrm>
            <a:off x="2073141" y="4370000"/>
            <a:ext cx="4115490" cy="646331"/>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Build web-based complaint management system</a:t>
            </a:r>
            <a:endParaRPr/>
          </a:p>
        </p:txBody>
      </p:sp>
      <p:sp>
        <p:nvSpPr>
          <p:cNvPr id="138" name="Google Shape;138;p5"/>
          <p:cNvSpPr txBox="1"/>
          <p:nvPr/>
        </p:nvSpPr>
        <p:spPr>
          <a:xfrm>
            <a:off x="2067239" y="5381093"/>
            <a:ext cx="4360551" cy="646331"/>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r>
              <a:rPr lang="en-US" sz="1800">
                <a:solidFill>
                  <a:schemeClr val="dk1"/>
                </a:solidFill>
                <a:latin typeface="Times New Roman"/>
                <a:ea typeface="Times New Roman"/>
                <a:cs typeface="Times New Roman"/>
                <a:sym typeface="Times New Roman"/>
              </a:rPr>
              <a:t>Improve governance efficiency &amp; response time</a:t>
            </a:r>
            <a:endParaRPr/>
          </a:p>
        </p:txBody>
      </p:sp>
      <p:pic>
        <p:nvPicPr>
          <p:cNvPr id="139" name="Google Shape;139;p5" descr="How to File an FIR in India - Explained - Delhi Law Academy"/>
          <p:cNvPicPr preferRelativeResize="0"/>
          <p:nvPr/>
        </p:nvPicPr>
        <p:blipFill rotWithShape="1">
          <a:blip r:embed="rId6">
            <a:alphaModFix/>
          </a:blip>
          <a:srcRect/>
          <a:stretch/>
        </p:blipFill>
        <p:spPr>
          <a:xfrm>
            <a:off x="7742700" y="2788537"/>
            <a:ext cx="3341691" cy="22277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US" sz="4000" b="1">
                <a:latin typeface="Times New Roman"/>
                <a:ea typeface="Times New Roman"/>
                <a:cs typeface="Times New Roman"/>
                <a:sym typeface="Times New Roman"/>
              </a:rPr>
              <a:t>LITERATURE REVIEW </a:t>
            </a:r>
            <a:endParaRPr sz="4000" b="1"/>
          </a:p>
        </p:txBody>
      </p:sp>
      <p:graphicFrame>
        <p:nvGraphicFramePr>
          <p:cNvPr id="145" name="Google Shape;145;p6"/>
          <p:cNvGraphicFramePr/>
          <p:nvPr/>
        </p:nvGraphicFramePr>
        <p:xfrm>
          <a:off x="1523999" y="1832104"/>
          <a:ext cx="9144000" cy="4826855"/>
        </p:xfrm>
        <a:graphic>
          <a:graphicData uri="http://schemas.openxmlformats.org/drawingml/2006/table">
            <a:tbl>
              <a:tblPr>
                <a:noFill/>
                <a:tableStyleId>{4DB7AF93-21EB-435C-964D-FB9D89103D86}</a:tableStyleId>
              </a:tblPr>
              <a:tblGrid>
                <a:gridCol w="903550">
                  <a:extLst>
                    <a:ext uri="{9D8B030D-6E8A-4147-A177-3AD203B41FA5}">
                      <a16:colId xmlns:a16="http://schemas.microsoft.com/office/drawing/2014/main" val="20000"/>
                    </a:ext>
                  </a:extLst>
                </a:gridCol>
                <a:gridCol w="2777225">
                  <a:extLst>
                    <a:ext uri="{9D8B030D-6E8A-4147-A177-3AD203B41FA5}">
                      <a16:colId xmlns:a16="http://schemas.microsoft.com/office/drawing/2014/main" val="20001"/>
                    </a:ext>
                  </a:extLst>
                </a:gridCol>
                <a:gridCol w="2841625">
                  <a:extLst>
                    <a:ext uri="{9D8B030D-6E8A-4147-A177-3AD203B41FA5}">
                      <a16:colId xmlns:a16="http://schemas.microsoft.com/office/drawing/2014/main" val="20002"/>
                    </a:ext>
                  </a:extLst>
                </a:gridCol>
                <a:gridCol w="2621600">
                  <a:extLst>
                    <a:ext uri="{9D8B030D-6E8A-4147-A177-3AD203B41FA5}">
                      <a16:colId xmlns:a16="http://schemas.microsoft.com/office/drawing/2014/main" val="20003"/>
                    </a:ext>
                  </a:extLst>
                </a:gridCol>
              </a:tblGrid>
              <a:tr h="306525">
                <a:tc>
                  <a:txBody>
                    <a:bodyPr/>
                    <a:lstStyle/>
                    <a:p>
                      <a:pPr marL="0" marR="0" lvl="0" indent="0" algn="ctr" rtl="0">
                        <a:spcBef>
                          <a:spcPts val="0"/>
                        </a:spcBef>
                        <a:spcAft>
                          <a:spcPts val="0"/>
                        </a:spcAft>
                        <a:buClr>
                          <a:schemeClr val="dk1"/>
                        </a:buClr>
                        <a:buSzPts val="1500"/>
                        <a:buFont typeface="Times New Roman"/>
                        <a:buNone/>
                      </a:pPr>
                      <a:r>
                        <a:rPr lang="en-US" sz="1500" b="1" u="none" strike="noStrike" cap="none">
                          <a:latin typeface="Times New Roman"/>
                          <a:ea typeface="Times New Roman"/>
                          <a:cs typeface="Times New Roman"/>
                          <a:sym typeface="Times New Roman"/>
                        </a:rPr>
                        <a:t>Year</a:t>
                      </a:r>
                      <a:endParaRPr sz="1500" u="none" strike="noStrike" cap="none">
                        <a:latin typeface="Times New Roman"/>
                        <a:ea typeface="Times New Roman"/>
                        <a:cs typeface="Times New Roman"/>
                        <a:sym typeface="Times New Roman"/>
                      </a:endParaRPr>
                    </a:p>
                  </a:txBody>
                  <a:tcPr marL="73750" marR="73750" marT="36875" marB="36875" anchor="ctr"/>
                </a:tc>
                <a:tc>
                  <a:txBody>
                    <a:bodyPr/>
                    <a:lstStyle/>
                    <a:p>
                      <a:pPr marL="0" marR="0" lvl="0" indent="0" algn="ctr" rtl="0">
                        <a:spcBef>
                          <a:spcPts val="0"/>
                        </a:spcBef>
                        <a:spcAft>
                          <a:spcPts val="0"/>
                        </a:spcAft>
                        <a:buClr>
                          <a:schemeClr val="dk1"/>
                        </a:buClr>
                        <a:buSzPts val="1500"/>
                        <a:buFont typeface="Times New Roman"/>
                        <a:buNone/>
                      </a:pPr>
                      <a:r>
                        <a:rPr lang="en-US" sz="1500" b="1" u="none" strike="noStrike" cap="none">
                          <a:latin typeface="Times New Roman"/>
                          <a:ea typeface="Times New Roman"/>
                          <a:cs typeface="Times New Roman"/>
                          <a:sym typeface="Times New Roman"/>
                        </a:rPr>
                        <a:t>Title of the Paper</a:t>
                      </a:r>
                      <a:endParaRPr sz="1500" u="none" strike="noStrike" cap="none">
                        <a:latin typeface="Times New Roman"/>
                        <a:ea typeface="Times New Roman"/>
                        <a:cs typeface="Times New Roman"/>
                        <a:sym typeface="Times New Roman"/>
                      </a:endParaRPr>
                    </a:p>
                  </a:txBody>
                  <a:tcPr marL="73750" marR="73750" marT="36875" marB="36875" anchor="ctr"/>
                </a:tc>
                <a:tc>
                  <a:txBody>
                    <a:bodyPr/>
                    <a:lstStyle/>
                    <a:p>
                      <a:pPr marL="0" marR="0" lvl="0" indent="0" algn="ctr" rtl="0">
                        <a:spcBef>
                          <a:spcPts val="0"/>
                        </a:spcBef>
                        <a:spcAft>
                          <a:spcPts val="0"/>
                        </a:spcAft>
                        <a:buClr>
                          <a:schemeClr val="dk1"/>
                        </a:buClr>
                        <a:buSzPts val="1500"/>
                        <a:buFont typeface="Times New Roman"/>
                        <a:buNone/>
                      </a:pPr>
                      <a:r>
                        <a:rPr lang="en-US" sz="1500" b="1" u="none" strike="noStrike" cap="none">
                          <a:latin typeface="Times New Roman"/>
                          <a:ea typeface="Times New Roman"/>
                          <a:cs typeface="Times New Roman"/>
                          <a:sym typeface="Times New Roman"/>
                        </a:rPr>
                        <a:t>Objectives</a:t>
                      </a:r>
                      <a:endParaRPr sz="1500" u="none" strike="noStrike" cap="none">
                        <a:latin typeface="Times New Roman"/>
                        <a:ea typeface="Times New Roman"/>
                        <a:cs typeface="Times New Roman"/>
                        <a:sym typeface="Times New Roman"/>
                      </a:endParaRPr>
                    </a:p>
                  </a:txBody>
                  <a:tcPr marL="73750" marR="73750" marT="36875" marB="36875" anchor="ctr"/>
                </a:tc>
                <a:tc>
                  <a:txBody>
                    <a:bodyPr/>
                    <a:lstStyle/>
                    <a:p>
                      <a:pPr marL="0" marR="0" lvl="0" indent="0" algn="ctr" rtl="0">
                        <a:spcBef>
                          <a:spcPts val="0"/>
                        </a:spcBef>
                        <a:spcAft>
                          <a:spcPts val="0"/>
                        </a:spcAft>
                        <a:buClr>
                          <a:schemeClr val="dk1"/>
                        </a:buClr>
                        <a:buSzPts val="1500"/>
                        <a:buFont typeface="Times New Roman"/>
                        <a:buNone/>
                      </a:pPr>
                      <a:r>
                        <a:rPr lang="en-US" sz="1500" b="1" u="none" strike="noStrike" cap="none">
                          <a:latin typeface="Times New Roman"/>
                          <a:ea typeface="Times New Roman"/>
                          <a:cs typeface="Times New Roman"/>
                          <a:sym typeface="Times New Roman"/>
                        </a:rPr>
                        <a:t>Limitations</a:t>
                      </a:r>
                      <a:endParaRPr sz="1500" u="none" strike="noStrike" cap="none">
                        <a:latin typeface="Times New Roman"/>
                        <a:ea typeface="Times New Roman"/>
                        <a:cs typeface="Times New Roman"/>
                        <a:sym typeface="Times New Roman"/>
                      </a:endParaRPr>
                    </a:p>
                  </a:txBody>
                  <a:tcPr marL="73750" marR="73750" marT="36875" marB="36875" anchor="ctr"/>
                </a:tc>
                <a:extLst>
                  <a:ext uri="{0D108BD9-81ED-4DB2-BD59-A6C34878D82A}">
                    <a16:rowId xmlns:a16="http://schemas.microsoft.com/office/drawing/2014/main" val="10000"/>
                  </a:ext>
                </a:extLst>
              </a:tr>
              <a:tr h="861600">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2021</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NLP-Based Public Grievance Classification System</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To classify public complaints into predefined categories using traditional machine learning techniques.</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Limited accuracy due to manual feature engineering and inability to capture deep contextual meaning.</a:t>
                      </a:r>
                      <a:endParaRPr/>
                    </a:p>
                  </a:txBody>
                  <a:tcPr marL="91450" marR="91450" marT="45725" marB="45725" anchor="ctr"/>
                </a:tc>
                <a:extLst>
                  <a:ext uri="{0D108BD9-81ED-4DB2-BD59-A6C34878D82A}">
                    <a16:rowId xmlns:a16="http://schemas.microsoft.com/office/drawing/2014/main" val="10001"/>
                  </a:ext>
                </a:extLst>
              </a:tr>
              <a:tr h="813100">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2022</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Deep Learning Approach for Text Classification in E-Governance</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To apply deep learning models for automatic classification of citizen complaints.</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Focused only on categorization; did not address urgency prediction.</a:t>
                      </a:r>
                      <a:endParaRPr/>
                    </a:p>
                  </a:txBody>
                  <a:tcPr marL="91450" marR="91450" marT="45725" marB="45725" anchor="ctr"/>
                </a:tc>
                <a:extLst>
                  <a:ext uri="{0D108BD9-81ED-4DB2-BD59-A6C34878D82A}">
                    <a16:rowId xmlns:a16="http://schemas.microsoft.com/office/drawing/2014/main" val="10002"/>
                  </a:ext>
                </a:extLst>
              </a:tr>
              <a:tr h="80732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2023</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Sentiment Analysis for Public Service Feedback</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To analyze citizen sentiment and determine positive or negative feedback trends.</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Sentiment analysis does not effectively identify urgency or emergency situations.</a:t>
                      </a:r>
                      <a:endParaRPr/>
                    </a:p>
                  </a:txBody>
                  <a:tcPr marL="91450" marR="91450" marT="45725" marB="45725" anchor="ctr"/>
                </a:tc>
                <a:extLst>
                  <a:ext uri="{0D108BD9-81ED-4DB2-BD59-A6C34878D82A}">
                    <a16:rowId xmlns:a16="http://schemas.microsoft.com/office/drawing/2014/main" val="10003"/>
                  </a:ext>
                </a:extLst>
              </a:tr>
              <a:tr h="87297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2024</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Transformer-Based Complaint Routing System</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To use transformer models for routing complaints to appropriate departments automatically.</a:t>
                      </a:r>
                      <a:endParaRPr/>
                    </a:p>
                  </a:txBody>
                  <a:tcPr marL="91450" marR="182875" marT="45725" marB="4572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High computational cost and requires large labeled datasets.</a:t>
                      </a:r>
                      <a:endParaRPr/>
                    </a:p>
                  </a:txBody>
                  <a:tcPr marL="91450" marR="91450" marT="45725" marB="45725" anchor="ctr"/>
                </a:tc>
                <a:extLst>
                  <a:ext uri="{0D108BD9-81ED-4DB2-BD59-A6C34878D82A}">
                    <a16:rowId xmlns:a16="http://schemas.microsoft.com/office/drawing/2014/main" val="10004"/>
                  </a:ext>
                </a:extLst>
              </a:tr>
              <a:tr h="986675">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2025</a:t>
                      </a:r>
                      <a:endParaRPr/>
                    </a:p>
                  </a:txBody>
                  <a:tcPr marL="91450" marR="182875" marT="45725" marB="18287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Intelligent Complaint Prioritization Using AI</a:t>
                      </a:r>
                      <a:endParaRPr/>
                    </a:p>
                  </a:txBody>
                  <a:tcPr marL="91450" marR="182875" marT="45725" marB="18287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To predict priority levels of complaints using machine learning algorithms.</a:t>
                      </a:r>
                      <a:endParaRPr/>
                    </a:p>
                  </a:txBody>
                  <a:tcPr marL="91450" marR="182875" marT="45725" marB="182875" anchor="ctr"/>
                </a:tc>
                <a:tc>
                  <a:txBody>
                    <a:bodyPr/>
                    <a:lstStyle/>
                    <a:p>
                      <a:pPr marL="0" marR="0" lvl="0" indent="0" algn="l" rtl="0">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Limited performance with unstructured and noisy text data; scalability issues in real-time deployment.</a:t>
                      </a:r>
                      <a:endParaRPr/>
                    </a:p>
                  </a:txBody>
                  <a:tcPr marL="91450" marR="91450" marT="45725" marB="182875" anchor="ctr"/>
                </a:tc>
                <a:extLst>
                  <a:ext uri="{0D108BD9-81ED-4DB2-BD59-A6C34878D82A}">
                    <a16:rowId xmlns:a16="http://schemas.microsoft.com/office/drawing/2014/main" val="10005"/>
                  </a:ext>
                </a:extLst>
              </a:tr>
            </a:tbl>
          </a:graphicData>
        </a:graphic>
      </p:graphicFrame>
      <p:pic>
        <p:nvPicPr>
          <p:cNvPr id="146" name="Google Shape;146;p6" descr="A logo with blue green and orange letters&#10;&#10;AI-generated content may be incorrect."/>
          <p:cNvPicPr preferRelativeResize="0"/>
          <p:nvPr/>
        </p:nvPicPr>
        <p:blipFill rotWithShape="1">
          <a:blip r:embed="rId3">
            <a:alphaModFix/>
          </a:blip>
          <a:srcRect/>
          <a:stretch/>
        </p:blipFill>
        <p:spPr>
          <a:xfrm>
            <a:off x="967050" y="369812"/>
            <a:ext cx="1111923" cy="1320875"/>
          </a:xfrm>
          <a:prstGeom prst="rect">
            <a:avLst/>
          </a:prstGeom>
          <a:noFill/>
          <a:ln>
            <a:noFill/>
          </a:ln>
        </p:spPr>
      </p:pic>
      <p:pic>
        <p:nvPicPr>
          <p:cNvPr id="147" name="Google Shape;147;p6" descr="A blue gear with a symbol and text&#10;&#10;AI-generated content may be incorrect."/>
          <p:cNvPicPr preferRelativeResize="0"/>
          <p:nvPr/>
        </p:nvPicPr>
        <p:blipFill rotWithShape="1">
          <a:blip r:embed="rId4">
            <a:alphaModFix/>
          </a:blip>
          <a:srcRect/>
          <a:stretch/>
        </p:blipFill>
        <p:spPr>
          <a:xfrm>
            <a:off x="9861286" y="369811"/>
            <a:ext cx="1492514" cy="1320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6"/>
        <p:cNvGrpSpPr/>
        <p:nvPr/>
      </p:nvGrpSpPr>
      <p:grpSpPr>
        <a:xfrm>
          <a:off x="0" y="0"/>
          <a:ext cx="0" cy="0"/>
          <a:chOff x="0" y="0"/>
          <a:chExt cx="0" cy="0"/>
        </a:xfrm>
      </p:grpSpPr>
      <p:sp>
        <p:nvSpPr>
          <p:cNvPr id="167" name="Google Shape;167;p8"/>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168" name="Google Shape;168;p8"/>
          <p:cNvGrpSpPr/>
          <p:nvPr/>
        </p:nvGrpSpPr>
        <p:grpSpPr>
          <a:xfrm>
            <a:off x="4" y="1216597"/>
            <a:ext cx="731521" cy="673460"/>
            <a:chOff x="3940602" y="308034"/>
            <a:chExt cx="2116791" cy="3428999"/>
          </a:xfrm>
        </p:grpSpPr>
        <p:sp>
          <p:nvSpPr>
            <p:cNvPr id="169" name="Google Shape;169;p8"/>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8"/>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8"/>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2" name="Google Shape;172;p8"/>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8"/>
          <p:cNvSpPr txBox="1">
            <a:spLocks noGrp="1"/>
          </p:cNvSpPr>
          <p:nvPr>
            <p:ph type="title"/>
          </p:nvPr>
        </p:nvSpPr>
        <p:spPr>
          <a:xfrm>
            <a:off x="1103192" y="912775"/>
            <a:ext cx="10173010" cy="108015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SYSTEM ARCHITECTURE</a:t>
            </a:r>
            <a:endParaRPr sz="3600" b="1">
              <a:latin typeface="Times New Roman"/>
              <a:ea typeface="Times New Roman"/>
              <a:cs typeface="Times New Roman"/>
              <a:sym typeface="Times New Roman"/>
            </a:endParaRPr>
          </a:p>
        </p:txBody>
      </p:sp>
      <p:cxnSp>
        <p:nvCxnSpPr>
          <p:cNvPr id="174" name="Google Shape;174;p8"/>
          <p:cNvCxnSpPr/>
          <p:nvPr/>
        </p:nvCxnSpPr>
        <p:spPr>
          <a:xfrm rot="10800000">
            <a:off x="838200" y="6485313"/>
            <a:ext cx="10515600" cy="0"/>
          </a:xfrm>
          <a:prstGeom prst="straightConnector1">
            <a:avLst/>
          </a:prstGeom>
          <a:noFill/>
          <a:ln w="57150" cap="flat" cmpd="sng">
            <a:solidFill>
              <a:schemeClr val="accent4"/>
            </a:solidFill>
            <a:prstDash val="solid"/>
            <a:miter lim="8000"/>
            <a:headEnd type="none" w="sm" len="sm"/>
            <a:tailEnd type="none" w="sm" len="sm"/>
          </a:ln>
        </p:spPr>
      </p:cxnSp>
      <p:pic>
        <p:nvPicPr>
          <p:cNvPr id="175" name="Google Shape;175;p8" descr="A logo with blue green and orange letters&#10;&#10;AI-generated content may be incorrect."/>
          <p:cNvPicPr preferRelativeResize="0"/>
          <p:nvPr/>
        </p:nvPicPr>
        <p:blipFill rotWithShape="1">
          <a:blip r:embed="rId3">
            <a:alphaModFix/>
          </a:blip>
          <a:srcRect/>
          <a:stretch/>
        </p:blipFill>
        <p:spPr>
          <a:xfrm>
            <a:off x="907333" y="609894"/>
            <a:ext cx="1419225" cy="1685925"/>
          </a:xfrm>
          <a:prstGeom prst="rect">
            <a:avLst/>
          </a:prstGeom>
          <a:noFill/>
          <a:ln>
            <a:noFill/>
          </a:ln>
        </p:spPr>
      </p:pic>
      <p:pic>
        <p:nvPicPr>
          <p:cNvPr id="176" name="Google Shape;176;p8" descr="A blue gear with a symbol and text&#10;&#10;AI-generated content may be incorrect."/>
          <p:cNvPicPr preferRelativeResize="0"/>
          <p:nvPr/>
        </p:nvPicPr>
        <p:blipFill rotWithShape="1">
          <a:blip r:embed="rId4">
            <a:alphaModFix/>
          </a:blip>
          <a:srcRect/>
          <a:stretch/>
        </p:blipFill>
        <p:spPr>
          <a:xfrm>
            <a:off x="9644193" y="609893"/>
            <a:ext cx="1905000" cy="1685925"/>
          </a:xfrm>
          <a:prstGeom prst="rect">
            <a:avLst/>
          </a:prstGeom>
          <a:noFill/>
          <a:ln>
            <a:noFill/>
          </a:ln>
        </p:spPr>
      </p:pic>
      <p:pic>
        <p:nvPicPr>
          <p:cNvPr id="177" name="Google Shape;177;p8"/>
          <p:cNvPicPr preferRelativeResize="0"/>
          <p:nvPr/>
        </p:nvPicPr>
        <p:blipFill rotWithShape="1">
          <a:blip r:embed="rId5">
            <a:alphaModFix/>
          </a:blip>
          <a:srcRect/>
          <a:stretch/>
        </p:blipFill>
        <p:spPr>
          <a:xfrm>
            <a:off x="3163884" y="2137199"/>
            <a:ext cx="6160270" cy="41068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1"/>
        <p:cNvGrpSpPr/>
        <p:nvPr/>
      </p:nvGrpSpPr>
      <p:grpSpPr>
        <a:xfrm>
          <a:off x="0" y="0"/>
          <a:ext cx="0" cy="0"/>
          <a:chOff x="0" y="0"/>
          <a:chExt cx="0" cy="0"/>
        </a:xfrm>
      </p:grpSpPr>
      <p:sp>
        <p:nvSpPr>
          <p:cNvPr id="182" name="Google Shape;182;p9"/>
          <p:cNvSpPr txBox="1">
            <a:spLocks noGrp="1"/>
          </p:cNvSpPr>
          <p:nvPr>
            <p:ph type="title"/>
          </p:nvPr>
        </p:nvSpPr>
        <p:spPr>
          <a:xfrm>
            <a:off x="2110865" y="366197"/>
            <a:ext cx="8377907" cy="1298448"/>
          </a:xfrm>
          <a:prstGeom prst="rect">
            <a:avLst/>
          </a:prstGeom>
          <a:noFill/>
          <a:ln>
            <a:noFill/>
          </a:ln>
        </p:spPr>
        <p:txBody>
          <a:bodyPr spcFirstLastPara="1" wrap="square" lIns="91425" tIns="45700" rIns="91425" bIns="45700" anchor="b" anchorCtr="0">
            <a:noAutofit/>
          </a:bodyPr>
          <a:lstStyle/>
          <a:p>
            <a:pPr algn="ctr">
              <a:lnSpc>
                <a:spcPct val="150000"/>
              </a:lnSpc>
            </a:pPr>
            <a:r>
              <a:rPr lang="en-IN" sz="3200" b="1" dirty="0">
                <a:latin typeface="Times New Roman" panose="02020603050405020304" pitchFamily="18" charset="0"/>
                <a:cs typeface="Times New Roman" panose="02020603050405020304" pitchFamily="18" charset="0"/>
              </a:rPr>
              <a:t>Module 1:</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Complaint Data Collection and Preprocessing</a:t>
            </a:r>
          </a:p>
        </p:txBody>
      </p:sp>
      <p:pic>
        <p:nvPicPr>
          <p:cNvPr id="183" name="Google Shape;183;p9" descr="A blue gear with a symbol and text&#10;&#10;AI-generated content may be incorrect."/>
          <p:cNvPicPr preferRelativeResize="0"/>
          <p:nvPr/>
        </p:nvPicPr>
        <p:blipFill rotWithShape="1">
          <a:blip r:embed="rId3">
            <a:alphaModFix/>
          </a:blip>
          <a:srcRect/>
          <a:stretch/>
        </p:blipFill>
        <p:spPr>
          <a:xfrm>
            <a:off x="10427236" y="417414"/>
            <a:ext cx="1414398" cy="1310145"/>
          </a:xfrm>
          <a:prstGeom prst="rect">
            <a:avLst/>
          </a:prstGeom>
          <a:noFill/>
          <a:ln>
            <a:noFill/>
          </a:ln>
        </p:spPr>
      </p:pic>
      <p:pic>
        <p:nvPicPr>
          <p:cNvPr id="184" name="Google Shape;184;p9" descr="A logo with blue green and orange letters&#10;&#10;AI-generated content may be incorrect."/>
          <p:cNvPicPr preferRelativeResize="0"/>
          <p:nvPr/>
        </p:nvPicPr>
        <p:blipFill rotWithShape="1">
          <a:blip r:embed="rId4">
            <a:alphaModFix/>
          </a:blip>
          <a:srcRect/>
          <a:stretch/>
        </p:blipFill>
        <p:spPr>
          <a:xfrm>
            <a:off x="441806" y="417414"/>
            <a:ext cx="1158267" cy="1393652"/>
          </a:xfrm>
          <a:prstGeom prst="rect">
            <a:avLst/>
          </a:prstGeom>
          <a:noFill/>
          <a:ln>
            <a:noFill/>
          </a:ln>
        </p:spPr>
      </p:pic>
      <p:sp>
        <p:nvSpPr>
          <p:cNvPr id="185" name="Google Shape;185;p9"/>
          <p:cNvSpPr txBox="1"/>
          <p:nvPr/>
        </p:nvSpPr>
        <p:spPr>
          <a:xfrm>
            <a:off x="712400" y="2244527"/>
            <a:ext cx="10422035" cy="4247276"/>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Collect public complaints from various sources such as government portals, social media platforms, emails, and mobile applications.</a:t>
            </a:r>
          </a:p>
          <a:p>
            <a:pPr marL="285750" marR="0" lvl="0" indent="-285750" algn="just"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Clean the collected data by removing duplicate records, missing values, unwanted symbols, and irrelevant information.</a:t>
            </a:r>
          </a:p>
          <a:p>
            <a:pPr marL="285750" marR="0" lvl="0" indent="-285750" algn="just"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Perform text preprocessing techniques including tokenization, stop-word removal, stemming, and lemmatization.</a:t>
            </a:r>
          </a:p>
          <a:p>
            <a:pPr marL="285750" marR="0" lvl="0" indent="-285750" algn="just"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Convert complaint text into meaningful numerical representations using feature extraction methods such as TF-IDF, Word2Vec, or BERT embeddings.</a:t>
            </a:r>
          </a:p>
          <a:p>
            <a:pPr marL="285750" marR="0" lvl="0" indent="-285750" algn="just"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Prepare a structured dataset that can be used for training and testing deep learning models.</a:t>
            </a:r>
            <a:endParaRPr sz="18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9"/>
        <p:cNvGrpSpPr/>
        <p:nvPr/>
      </p:nvGrpSpPr>
      <p:grpSpPr>
        <a:xfrm>
          <a:off x="0" y="0"/>
          <a:ext cx="0" cy="0"/>
          <a:chOff x="0" y="0"/>
          <a:chExt cx="0" cy="0"/>
        </a:xfrm>
      </p:grpSpPr>
      <p:sp>
        <p:nvSpPr>
          <p:cNvPr id="190" name="Google Shape;190;p10"/>
          <p:cNvSpPr txBox="1">
            <a:spLocks noGrp="1"/>
          </p:cNvSpPr>
          <p:nvPr>
            <p:ph type="title"/>
          </p:nvPr>
        </p:nvSpPr>
        <p:spPr>
          <a:xfrm>
            <a:off x="1431933" y="409462"/>
            <a:ext cx="9399903" cy="1298448"/>
          </a:xfrm>
          <a:prstGeom prst="rect">
            <a:avLst/>
          </a:prstGeom>
          <a:noFill/>
          <a:ln>
            <a:noFill/>
          </a:ln>
        </p:spPr>
        <p:txBody>
          <a:bodyPr spcFirstLastPara="1" wrap="square" lIns="91425" tIns="45700" rIns="91425" bIns="45700" anchor="b" anchorCtr="0">
            <a:noAutofit/>
          </a:bodyPr>
          <a:lstStyle/>
          <a:p>
            <a:pPr algn="ctr">
              <a:lnSpc>
                <a:spcPct val="150000"/>
              </a:lnSpc>
            </a:pPr>
            <a:r>
              <a:rPr lang="en-IN" sz="3200" b="1" dirty="0">
                <a:latin typeface="Times New Roman" panose="02020603050405020304" pitchFamily="18" charset="0"/>
                <a:cs typeface="Times New Roman" panose="02020603050405020304" pitchFamily="18" charset="0"/>
              </a:rPr>
              <a:t>Module 2:</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 Deep Learning-Based Complaint Categorization</a:t>
            </a:r>
          </a:p>
        </p:txBody>
      </p:sp>
      <p:pic>
        <p:nvPicPr>
          <p:cNvPr id="191" name="Google Shape;191;p10" descr="A blue gear with a symbol and text&#10;&#10;AI-generated content may be incorrect."/>
          <p:cNvPicPr preferRelativeResize="0"/>
          <p:nvPr/>
        </p:nvPicPr>
        <p:blipFill rotWithShape="1">
          <a:blip r:embed="rId3">
            <a:alphaModFix/>
          </a:blip>
          <a:srcRect/>
          <a:stretch/>
        </p:blipFill>
        <p:spPr>
          <a:xfrm>
            <a:off x="10777602" y="298003"/>
            <a:ext cx="1414398" cy="1310145"/>
          </a:xfrm>
          <a:prstGeom prst="rect">
            <a:avLst/>
          </a:prstGeom>
          <a:noFill/>
          <a:ln>
            <a:noFill/>
          </a:ln>
        </p:spPr>
      </p:pic>
      <p:pic>
        <p:nvPicPr>
          <p:cNvPr id="192" name="Google Shape;192;p10" descr="A logo with blue green and orange letters&#10;&#10;AI-generated content may be incorrect."/>
          <p:cNvPicPr preferRelativeResize="0"/>
          <p:nvPr/>
        </p:nvPicPr>
        <p:blipFill rotWithShape="1">
          <a:blip r:embed="rId4">
            <a:alphaModFix/>
          </a:blip>
          <a:srcRect/>
          <a:stretch/>
        </p:blipFill>
        <p:spPr>
          <a:xfrm>
            <a:off x="327899" y="361860"/>
            <a:ext cx="1158267" cy="1393652"/>
          </a:xfrm>
          <a:prstGeom prst="rect">
            <a:avLst/>
          </a:prstGeom>
          <a:noFill/>
          <a:ln>
            <a:noFill/>
          </a:ln>
        </p:spPr>
      </p:pic>
      <p:sp>
        <p:nvSpPr>
          <p:cNvPr id="193" name="Google Shape;193;p10"/>
          <p:cNvSpPr txBox="1"/>
          <p:nvPr/>
        </p:nvSpPr>
        <p:spPr>
          <a:xfrm>
            <a:off x="819566" y="2284009"/>
            <a:ext cx="10431529" cy="3785611"/>
          </a:xfrm>
          <a:prstGeom prst="rect">
            <a:avLst/>
          </a:prstGeom>
          <a:noFill/>
          <a:ln>
            <a:noFill/>
          </a:ln>
        </p:spPr>
        <p:txBody>
          <a:bodyPr spcFirstLastPara="1" wrap="square" lIns="91425" tIns="45700" rIns="91425" bIns="45700" anchor="t" anchorCtr="0">
            <a:spAutoFit/>
          </a:bodyPr>
          <a:lstStyle/>
          <a:p>
            <a:pPr marL="285750" lvl="0" indent="-285750">
              <a:lnSpc>
                <a:spcPct val="150000"/>
              </a:lnSpc>
              <a:buClr>
                <a:schemeClr val="dk1"/>
              </a:buClr>
              <a:buSzPts val="2000"/>
              <a:buFont typeface="Noto Sans Symbols"/>
              <a:buChar char="✔"/>
            </a:pPr>
            <a:r>
              <a:rPr lang="en-US" sz="2000" dirty="0">
                <a:latin typeface="Times New Roman" panose="02020603050405020304" pitchFamily="18" charset="0"/>
                <a:cs typeface="Times New Roman" panose="02020603050405020304" pitchFamily="18" charset="0"/>
              </a:rPr>
              <a:t>Develop a deep learning model to automatically classify complaints into categories such as Water Supply, Electricity, Roads, Sanitation, Healthcare, and Transportation.</a:t>
            </a:r>
          </a:p>
          <a:p>
            <a:pPr marL="285750" lvl="0" indent="-285750">
              <a:lnSpc>
                <a:spcPct val="150000"/>
              </a:lnSpc>
              <a:buClr>
                <a:schemeClr val="dk1"/>
              </a:buClr>
              <a:buSzPts val="2000"/>
              <a:buFont typeface="Noto Sans Symbols"/>
              <a:buChar char="✔"/>
            </a:pPr>
            <a:r>
              <a:rPr lang="en-US" sz="2000" dirty="0">
                <a:latin typeface="Times New Roman" panose="02020603050405020304" pitchFamily="18" charset="0"/>
                <a:cs typeface="Times New Roman" panose="02020603050405020304" pitchFamily="18" charset="0"/>
              </a:rPr>
              <a:t>Train the model using preprocessed complaint data and labeled categories.</a:t>
            </a:r>
          </a:p>
          <a:p>
            <a:pPr marL="285750" lvl="0" indent="-285750">
              <a:lnSpc>
                <a:spcPct val="150000"/>
              </a:lnSpc>
              <a:buClr>
                <a:schemeClr val="dk1"/>
              </a:buClr>
              <a:buSzPts val="2000"/>
              <a:buFont typeface="Noto Sans Symbols"/>
              <a:buChar char="✔"/>
            </a:pPr>
            <a:r>
              <a:rPr lang="en-US" sz="2000" dirty="0">
                <a:latin typeface="Times New Roman" panose="02020603050405020304" pitchFamily="18" charset="0"/>
                <a:cs typeface="Times New Roman" panose="02020603050405020304" pitchFamily="18" charset="0"/>
              </a:rPr>
              <a:t>Extract semantic and contextual information from complaint text using NLP and deep learning techniques.</a:t>
            </a:r>
          </a:p>
          <a:p>
            <a:pPr marL="285750" lvl="0" indent="-285750">
              <a:lnSpc>
                <a:spcPct val="150000"/>
              </a:lnSpc>
              <a:buClr>
                <a:schemeClr val="dk1"/>
              </a:buClr>
              <a:buSzPts val="2000"/>
              <a:buFont typeface="Noto Sans Symbols"/>
              <a:buChar char="✔"/>
            </a:pPr>
            <a:r>
              <a:rPr lang="en-US" sz="2000" dirty="0">
                <a:latin typeface="Times New Roman" panose="02020603050405020304" pitchFamily="18" charset="0"/>
                <a:cs typeface="Times New Roman" panose="02020603050405020304" pitchFamily="18" charset="0"/>
              </a:rPr>
              <a:t>Predict the appropriate complaint category for newly submitted complaints.</a:t>
            </a:r>
          </a:p>
          <a:p>
            <a:pPr marL="285750" lvl="0" indent="-285750">
              <a:lnSpc>
                <a:spcPct val="150000"/>
              </a:lnSpc>
              <a:buClr>
                <a:schemeClr val="dk1"/>
              </a:buClr>
              <a:buSzPts val="2000"/>
              <a:buFont typeface="Noto Sans Symbols"/>
              <a:buChar char="✔"/>
            </a:pPr>
            <a:r>
              <a:rPr lang="en-US" sz="2000" dirty="0">
                <a:latin typeface="Times New Roman" panose="02020603050405020304" pitchFamily="18" charset="0"/>
                <a:cs typeface="Times New Roman" panose="02020603050405020304" pitchFamily="18" charset="0"/>
              </a:rPr>
              <a:t>Evaluate model performance using metrics such as Accuracy, Precision, Recall, and F1-Score to ensure reliable classification.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sp>
        <p:nvSpPr>
          <p:cNvPr id="206" name="Google Shape;206;p12"/>
          <p:cNvSpPr txBox="1">
            <a:spLocks noGrp="1"/>
          </p:cNvSpPr>
          <p:nvPr>
            <p:ph type="title"/>
          </p:nvPr>
        </p:nvSpPr>
        <p:spPr>
          <a:xfrm>
            <a:off x="1790586" y="370244"/>
            <a:ext cx="8610827" cy="1298448"/>
          </a:xfrm>
          <a:prstGeom prst="rect">
            <a:avLst/>
          </a:prstGeom>
          <a:noFill/>
          <a:ln>
            <a:noFill/>
          </a:ln>
        </p:spPr>
        <p:txBody>
          <a:bodyPr spcFirstLastPara="1" wrap="square" lIns="91425" tIns="45700" rIns="91425" bIns="45700" anchor="b" anchorCtr="0">
            <a:noAutofit/>
          </a:bodyPr>
          <a:lstStyle/>
          <a:p>
            <a:pPr algn="ctr">
              <a:lnSpc>
                <a:spcPct val="150000"/>
              </a:lnSpc>
            </a:pPr>
            <a:r>
              <a:rPr lang="en-IN" sz="3200" b="1" dirty="0">
                <a:latin typeface="Times New Roman" panose="02020603050405020304" pitchFamily="18" charset="0"/>
                <a:cs typeface="Times New Roman" panose="02020603050405020304" pitchFamily="18" charset="0"/>
              </a:rPr>
              <a:t>Module 3:</a:t>
            </a:r>
            <a:br>
              <a:rPr lang="en-IN" sz="3200" b="1" dirty="0">
                <a:latin typeface="Times New Roman" panose="02020603050405020304" pitchFamily="18" charset="0"/>
                <a:cs typeface="Times New Roman" panose="02020603050405020304" pitchFamily="18" charset="0"/>
              </a:rPr>
            </a:br>
            <a:r>
              <a:rPr lang="en-IN" sz="3200" b="1" dirty="0">
                <a:latin typeface="Times New Roman" panose="02020603050405020304" pitchFamily="18" charset="0"/>
                <a:cs typeface="Times New Roman" panose="02020603050405020304" pitchFamily="18" charset="0"/>
              </a:rPr>
              <a:t>Urgency Detection and Complaint Prioritization</a:t>
            </a:r>
          </a:p>
        </p:txBody>
      </p:sp>
      <p:pic>
        <p:nvPicPr>
          <p:cNvPr id="207" name="Google Shape;207;p12" descr="A blue gear with a symbol and text&#10;&#10;AI-generated content may be incorrect."/>
          <p:cNvPicPr preferRelativeResize="0"/>
          <p:nvPr/>
        </p:nvPicPr>
        <p:blipFill rotWithShape="1">
          <a:blip r:embed="rId3">
            <a:alphaModFix/>
          </a:blip>
          <a:srcRect/>
          <a:stretch/>
        </p:blipFill>
        <p:spPr>
          <a:xfrm>
            <a:off x="10491744" y="310945"/>
            <a:ext cx="1414398" cy="1310145"/>
          </a:xfrm>
          <a:prstGeom prst="rect">
            <a:avLst/>
          </a:prstGeom>
          <a:noFill/>
          <a:ln>
            <a:noFill/>
          </a:ln>
        </p:spPr>
      </p:pic>
      <p:pic>
        <p:nvPicPr>
          <p:cNvPr id="208" name="Google Shape;208;p12" descr="A logo with blue green and orange letters&#10;&#10;AI-generated content may be incorrect."/>
          <p:cNvPicPr preferRelativeResize="0"/>
          <p:nvPr/>
        </p:nvPicPr>
        <p:blipFill rotWithShape="1">
          <a:blip r:embed="rId4">
            <a:alphaModFix/>
          </a:blip>
          <a:srcRect/>
          <a:stretch/>
        </p:blipFill>
        <p:spPr>
          <a:xfrm>
            <a:off x="444124" y="322642"/>
            <a:ext cx="1158267" cy="1393652"/>
          </a:xfrm>
          <a:prstGeom prst="rect">
            <a:avLst/>
          </a:prstGeom>
          <a:noFill/>
          <a:ln>
            <a:noFill/>
          </a:ln>
        </p:spPr>
      </p:pic>
      <p:sp>
        <p:nvSpPr>
          <p:cNvPr id="209" name="Google Shape;209;p12"/>
          <p:cNvSpPr txBox="1"/>
          <p:nvPr/>
        </p:nvSpPr>
        <p:spPr>
          <a:xfrm>
            <a:off x="882033" y="2427850"/>
            <a:ext cx="10345209" cy="3323946"/>
          </a:xfrm>
          <a:prstGeom prst="rect">
            <a:avLst/>
          </a:prstGeom>
          <a:noFill/>
          <a:ln>
            <a:noFill/>
          </a:ln>
        </p:spPr>
        <p:txBody>
          <a:bodyPr spcFirstLastPara="1" wrap="square" lIns="91425" tIns="45700" rIns="91425" bIns="45700" anchor="t" anchorCtr="0">
            <a:spAutoFit/>
          </a:bodyPr>
          <a:lstStyle/>
          <a:p>
            <a:pPr marL="342900" marR="0" lvl="0" indent="-342900" algn="l"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Design a deep learning model to determine the urgency level of complaints based on their content and severity.</a:t>
            </a:r>
          </a:p>
          <a:p>
            <a:pPr marL="342900" marR="0" lvl="0" indent="-342900" algn="l"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Classify complaints into urgency levels such as Low, Medium, High, and Critical.</a:t>
            </a:r>
          </a:p>
          <a:p>
            <a:pPr marL="342900" marR="0" lvl="0" indent="-342900" algn="l"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Generate priority scores to help authorities identify and address important complaints first.</a:t>
            </a:r>
          </a:p>
          <a:p>
            <a:pPr marL="342900" marR="0" lvl="0" indent="-342900" algn="l"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Provide real-time analysis and alerts for highly urgent complaints requiring immediate attention.</a:t>
            </a:r>
          </a:p>
          <a:p>
            <a:pPr marL="342900" marR="0" lvl="0" indent="-342900" algn="l" rtl="0">
              <a:lnSpc>
                <a:spcPct val="150000"/>
              </a:lnSpc>
              <a:spcBef>
                <a:spcPts val="0"/>
              </a:spcBef>
              <a:spcAft>
                <a:spcPts val="0"/>
              </a:spcAft>
              <a:buClr>
                <a:schemeClr val="dk1"/>
              </a:buClr>
              <a:buSzPts val="2000"/>
              <a:buFont typeface="Noto Sans Symbols"/>
              <a:buChar char="✔"/>
            </a:pPr>
            <a:r>
              <a:rPr lang="en-US" sz="2000" dirty="0">
                <a:solidFill>
                  <a:schemeClr val="dk1"/>
                </a:solidFill>
                <a:latin typeface="Times New Roman"/>
                <a:ea typeface="Times New Roman"/>
                <a:cs typeface="Times New Roman"/>
                <a:sym typeface="Times New Roman"/>
              </a:rPr>
              <a:t>Display complaint categories, urgency levels, confidence scores, and complaint statistics through an interactive dashboard for efficient monitoring and decision-making.</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5">
          <a:extLst>
            <a:ext uri="{FF2B5EF4-FFF2-40B4-BE49-F238E27FC236}">
              <a16:creationId xmlns:a16="http://schemas.microsoft.com/office/drawing/2014/main" id="{3C007C46-2E1E-22FB-6DBE-ABF24DDA24FE}"/>
            </a:ext>
          </a:extLst>
        </p:cNvPr>
        <p:cNvGrpSpPr/>
        <p:nvPr/>
      </p:nvGrpSpPr>
      <p:grpSpPr>
        <a:xfrm>
          <a:off x="0" y="0"/>
          <a:ext cx="0" cy="0"/>
          <a:chOff x="0" y="0"/>
          <a:chExt cx="0" cy="0"/>
        </a:xfrm>
      </p:grpSpPr>
      <p:sp>
        <p:nvSpPr>
          <p:cNvPr id="206" name="Google Shape;206;p12">
            <a:extLst>
              <a:ext uri="{FF2B5EF4-FFF2-40B4-BE49-F238E27FC236}">
                <a16:creationId xmlns:a16="http://schemas.microsoft.com/office/drawing/2014/main" id="{7781FE82-CAA1-3B53-597E-60660D5131F4}"/>
              </a:ext>
            </a:extLst>
          </p:cNvPr>
          <p:cNvSpPr txBox="1">
            <a:spLocks noGrp="1"/>
          </p:cNvSpPr>
          <p:nvPr>
            <p:ph type="title"/>
          </p:nvPr>
        </p:nvSpPr>
        <p:spPr>
          <a:xfrm>
            <a:off x="1790586" y="370244"/>
            <a:ext cx="8610827" cy="1298448"/>
          </a:xfrm>
          <a:prstGeom prst="rect">
            <a:avLst/>
          </a:prstGeom>
          <a:noFill/>
          <a:ln>
            <a:noFill/>
          </a:ln>
        </p:spPr>
        <p:txBody>
          <a:bodyPr spcFirstLastPara="1" wrap="square" lIns="91425" tIns="45700" rIns="91425" bIns="45700" anchor="b" anchorCtr="0">
            <a:noAutofit/>
          </a:bodyPr>
          <a:lstStyle/>
          <a:p>
            <a:pPr algn="ctr">
              <a:lnSpc>
                <a:spcPct val="150000"/>
              </a:lnSpc>
            </a:pPr>
            <a:r>
              <a:rPr lang="en-IN" sz="3200" b="1" dirty="0">
                <a:latin typeface="Times New Roman" panose="02020603050405020304" pitchFamily="18" charset="0"/>
                <a:cs typeface="Times New Roman" panose="02020603050405020304" pitchFamily="18" charset="0"/>
              </a:rPr>
              <a:t>Module 4:</a:t>
            </a:r>
            <a:br>
              <a:rPr lang="en-IN" sz="3200" b="1" dirty="0">
                <a:latin typeface="Times New Roman" panose="02020603050405020304" pitchFamily="18" charset="0"/>
                <a:cs typeface="Times New Roman" panose="02020603050405020304" pitchFamily="18" charset="0"/>
              </a:rPr>
            </a:br>
            <a:r>
              <a:rPr lang="en-IN" sz="3200" b="1" dirty="0"/>
              <a:t>Complaint Resolution, Monitoring and Feedback</a:t>
            </a:r>
            <a:endParaRPr lang="en-IN" sz="3200" b="1" dirty="0">
              <a:latin typeface="Times New Roman" panose="02020603050405020304" pitchFamily="18" charset="0"/>
              <a:cs typeface="Times New Roman" panose="02020603050405020304" pitchFamily="18" charset="0"/>
            </a:endParaRPr>
          </a:p>
        </p:txBody>
      </p:sp>
      <p:pic>
        <p:nvPicPr>
          <p:cNvPr id="207" name="Google Shape;207;p12" descr="A blue gear with a symbol and text&#10;&#10;AI-generated content may be incorrect.">
            <a:extLst>
              <a:ext uri="{FF2B5EF4-FFF2-40B4-BE49-F238E27FC236}">
                <a16:creationId xmlns:a16="http://schemas.microsoft.com/office/drawing/2014/main" id="{6BDDB3CC-267F-C1AD-47C1-4AA45E5E4FBD}"/>
              </a:ext>
            </a:extLst>
          </p:cNvPr>
          <p:cNvPicPr preferRelativeResize="0"/>
          <p:nvPr/>
        </p:nvPicPr>
        <p:blipFill rotWithShape="1">
          <a:blip r:embed="rId3">
            <a:alphaModFix/>
          </a:blip>
          <a:srcRect/>
          <a:stretch/>
        </p:blipFill>
        <p:spPr>
          <a:xfrm>
            <a:off x="10491744" y="310945"/>
            <a:ext cx="1414398" cy="1310145"/>
          </a:xfrm>
          <a:prstGeom prst="rect">
            <a:avLst/>
          </a:prstGeom>
          <a:noFill/>
          <a:ln>
            <a:noFill/>
          </a:ln>
        </p:spPr>
      </p:pic>
      <p:pic>
        <p:nvPicPr>
          <p:cNvPr id="208" name="Google Shape;208;p12" descr="A logo with blue green and orange letters&#10;&#10;AI-generated content may be incorrect.">
            <a:extLst>
              <a:ext uri="{FF2B5EF4-FFF2-40B4-BE49-F238E27FC236}">
                <a16:creationId xmlns:a16="http://schemas.microsoft.com/office/drawing/2014/main" id="{5FB5008D-E759-C231-3ED3-E6EBDB3733D4}"/>
              </a:ext>
            </a:extLst>
          </p:cNvPr>
          <p:cNvPicPr preferRelativeResize="0"/>
          <p:nvPr/>
        </p:nvPicPr>
        <p:blipFill rotWithShape="1">
          <a:blip r:embed="rId4">
            <a:alphaModFix/>
          </a:blip>
          <a:srcRect/>
          <a:stretch/>
        </p:blipFill>
        <p:spPr>
          <a:xfrm>
            <a:off x="444124" y="322642"/>
            <a:ext cx="1158267" cy="1393652"/>
          </a:xfrm>
          <a:prstGeom prst="rect">
            <a:avLst/>
          </a:prstGeom>
          <a:noFill/>
          <a:ln>
            <a:noFill/>
          </a:ln>
        </p:spPr>
      </p:pic>
      <p:sp>
        <p:nvSpPr>
          <p:cNvPr id="209" name="Google Shape;209;p12">
            <a:extLst>
              <a:ext uri="{FF2B5EF4-FFF2-40B4-BE49-F238E27FC236}">
                <a16:creationId xmlns:a16="http://schemas.microsoft.com/office/drawing/2014/main" id="{E45C5810-2529-226A-9940-B9C03B7F9475}"/>
              </a:ext>
            </a:extLst>
          </p:cNvPr>
          <p:cNvSpPr txBox="1"/>
          <p:nvPr/>
        </p:nvSpPr>
        <p:spPr>
          <a:xfrm>
            <a:off x="882033" y="2427850"/>
            <a:ext cx="10345209" cy="3170058"/>
          </a:xfrm>
          <a:prstGeom prst="rect">
            <a:avLst/>
          </a:prstGeom>
          <a:noFill/>
          <a:ln>
            <a:noFill/>
          </a:ln>
        </p:spPr>
        <p:txBody>
          <a:bodyPr spcFirstLastPara="1" wrap="square" lIns="91425" tIns="45700" rIns="91425" bIns="45700" anchor="t" anchorCtr="0">
            <a:spAutoFit/>
          </a:bodyPr>
          <a:lstStyle/>
          <a:p>
            <a:pPr marL="342900" lvl="0" indent="-34290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Complaint Assignment and Routing:</a:t>
            </a:r>
            <a:r>
              <a:rPr lang="en-IN" sz="2000" dirty="0">
                <a:latin typeface="Times New Roman" panose="02020603050405020304" pitchFamily="18" charset="0"/>
                <a:cs typeface="Times New Roman" panose="02020603050405020304" pitchFamily="18" charset="0"/>
              </a:rPr>
              <a:t> Automatically assign categorized complaints to the appropriate department or authority. </a:t>
            </a:r>
          </a:p>
          <a:p>
            <a:pPr marL="342900" lvl="0" indent="-342900">
              <a:buFont typeface="Wingdings" panose="05000000000000000000" pitchFamily="2" charset="2"/>
              <a:buChar char="ü"/>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Resolution Tracking:</a:t>
            </a:r>
            <a:r>
              <a:rPr lang="en-IN" sz="2000" dirty="0">
                <a:latin typeface="Times New Roman" panose="02020603050405020304" pitchFamily="18" charset="0"/>
                <a:cs typeface="Times New Roman" panose="02020603050405020304" pitchFamily="18" charset="0"/>
              </a:rPr>
              <a:t> Monitor complaint status from registration to final resolution. </a:t>
            </a:r>
          </a:p>
          <a:p>
            <a:pPr marL="342900" lvl="0" indent="-342900">
              <a:buFont typeface="Wingdings" panose="05000000000000000000" pitchFamily="2" charset="2"/>
              <a:buChar char="ü"/>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Response Recommendation:</a:t>
            </a:r>
            <a:r>
              <a:rPr lang="en-IN" sz="2000" dirty="0">
                <a:latin typeface="Times New Roman" panose="02020603050405020304" pitchFamily="18" charset="0"/>
                <a:cs typeface="Times New Roman" panose="02020603050405020304" pitchFamily="18" charset="0"/>
              </a:rPr>
              <a:t> Generate suitable response suggestions using AI based on complaint category and urgency. </a:t>
            </a:r>
          </a:p>
          <a:p>
            <a:pPr marL="342900" lvl="0" indent="-342900">
              <a:buFont typeface="Wingdings" panose="05000000000000000000" pitchFamily="2" charset="2"/>
              <a:buChar char="ü"/>
            </a:pPr>
            <a:endParaRPr lang="en-IN" sz="2000" dirty="0">
              <a:latin typeface="Times New Roman" panose="02020603050405020304" pitchFamily="18" charset="0"/>
              <a:cs typeface="Times New Roman" panose="02020603050405020304" pitchFamily="18" charset="0"/>
            </a:endParaRPr>
          </a:p>
          <a:p>
            <a:pPr marL="342900" lvl="0" indent="-342900">
              <a:buFont typeface="Wingdings" panose="05000000000000000000" pitchFamily="2" charset="2"/>
              <a:buChar char="ü"/>
            </a:pPr>
            <a:r>
              <a:rPr lang="en-IN" sz="2000" b="1" dirty="0">
                <a:latin typeface="Times New Roman" panose="02020603050405020304" pitchFamily="18" charset="0"/>
                <a:cs typeface="Times New Roman" panose="02020603050405020304" pitchFamily="18" charset="0"/>
              </a:rPr>
              <a:t>Performance Monitoring: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resolution time, pending complaints, and department-wise performance.</a:t>
            </a:r>
          </a:p>
        </p:txBody>
      </p:sp>
    </p:spTree>
    <p:extLst>
      <p:ext uri="{BB962C8B-B14F-4D97-AF65-F5344CB8AC3E}">
        <p14:creationId xmlns:p14="http://schemas.microsoft.com/office/powerpoint/2010/main" val="2510385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4"/>
        <p:cNvGrpSpPr/>
        <p:nvPr/>
      </p:nvGrpSpPr>
      <p:grpSpPr>
        <a:xfrm>
          <a:off x="0" y="0"/>
          <a:ext cx="0" cy="0"/>
          <a:chOff x="0" y="0"/>
          <a:chExt cx="0" cy="0"/>
        </a:xfrm>
      </p:grpSpPr>
      <p:sp>
        <p:nvSpPr>
          <p:cNvPr id="245" name="Google Shape;245;p16"/>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246" name="Google Shape;246;p16"/>
          <p:cNvGrpSpPr/>
          <p:nvPr/>
        </p:nvGrpSpPr>
        <p:grpSpPr>
          <a:xfrm>
            <a:off x="4" y="1216597"/>
            <a:ext cx="731521" cy="673460"/>
            <a:chOff x="3940602" y="308034"/>
            <a:chExt cx="2116791" cy="3428999"/>
          </a:xfrm>
        </p:grpSpPr>
        <p:sp>
          <p:nvSpPr>
            <p:cNvPr id="247" name="Google Shape;247;p16"/>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8" name="Google Shape;248;p16"/>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49" name="Google Shape;249;p16"/>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50" name="Google Shape;250;p16"/>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51" name="Google Shape;251;p16"/>
          <p:cNvSpPr txBox="1">
            <a:spLocks noGrp="1"/>
          </p:cNvSpPr>
          <p:nvPr>
            <p:ph type="title"/>
          </p:nvPr>
        </p:nvSpPr>
        <p:spPr>
          <a:xfrm>
            <a:off x="907912" y="1032761"/>
            <a:ext cx="10173010" cy="1006479"/>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CHALLENGES &amp; LIMITATIONS</a:t>
            </a:r>
            <a:endParaRPr sz="4000" b="1">
              <a:latin typeface="Times New Roman"/>
              <a:ea typeface="Times New Roman"/>
              <a:cs typeface="Times New Roman"/>
              <a:sym typeface="Times New Roman"/>
            </a:endParaRPr>
          </a:p>
        </p:txBody>
      </p:sp>
      <p:cxnSp>
        <p:nvCxnSpPr>
          <p:cNvPr id="252" name="Google Shape;252;p16"/>
          <p:cNvCxnSpPr/>
          <p:nvPr/>
        </p:nvCxnSpPr>
        <p:spPr>
          <a:xfrm rot="10800000">
            <a:off x="838200" y="6485313"/>
            <a:ext cx="10515600" cy="0"/>
          </a:xfrm>
          <a:prstGeom prst="straightConnector1">
            <a:avLst/>
          </a:prstGeom>
          <a:noFill/>
          <a:ln w="57150" cap="flat" cmpd="sng">
            <a:solidFill>
              <a:schemeClr val="accent4"/>
            </a:solidFill>
            <a:prstDash val="solid"/>
            <a:miter lim="8000"/>
            <a:headEnd type="none" w="sm" len="sm"/>
            <a:tailEnd type="none" w="sm" len="sm"/>
          </a:ln>
        </p:spPr>
      </p:cxnSp>
      <p:pic>
        <p:nvPicPr>
          <p:cNvPr id="253" name="Google Shape;253;p16" descr="A logo with blue green and orange letters&#10;&#10;AI-generated content may be incorrect."/>
          <p:cNvPicPr preferRelativeResize="0"/>
          <p:nvPr/>
        </p:nvPicPr>
        <p:blipFill rotWithShape="1">
          <a:blip r:embed="rId3">
            <a:alphaModFix/>
          </a:blip>
          <a:srcRect/>
          <a:stretch/>
        </p:blipFill>
        <p:spPr>
          <a:xfrm>
            <a:off x="803503" y="790569"/>
            <a:ext cx="1252942" cy="1488394"/>
          </a:xfrm>
          <a:prstGeom prst="rect">
            <a:avLst/>
          </a:prstGeom>
          <a:noFill/>
          <a:ln>
            <a:noFill/>
          </a:ln>
        </p:spPr>
      </p:pic>
      <p:pic>
        <p:nvPicPr>
          <p:cNvPr id="254" name="Google Shape;254;p16" descr="A blue gear with a symbol and text&#10;&#10;AI-generated content may be incorrect."/>
          <p:cNvPicPr preferRelativeResize="0"/>
          <p:nvPr/>
        </p:nvPicPr>
        <p:blipFill rotWithShape="1">
          <a:blip r:embed="rId4">
            <a:alphaModFix/>
          </a:blip>
          <a:srcRect/>
          <a:stretch/>
        </p:blipFill>
        <p:spPr>
          <a:xfrm>
            <a:off x="9836689" y="836018"/>
            <a:ext cx="1677424" cy="1484520"/>
          </a:xfrm>
          <a:prstGeom prst="rect">
            <a:avLst/>
          </a:prstGeom>
          <a:noFill/>
          <a:ln>
            <a:noFill/>
          </a:ln>
        </p:spPr>
      </p:pic>
      <p:sp>
        <p:nvSpPr>
          <p:cNvPr id="255" name="Google Shape;255;p16"/>
          <p:cNvSpPr txBox="1"/>
          <p:nvPr/>
        </p:nvSpPr>
        <p:spPr>
          <a:xfrm>
            <a:off x="1031041" y="2458047"/>
            <a:ext cx="10620934" cy="4093388"/>
          </a:xfrm>
          <a:prstGeom prst="rect">
            <a:avLst/>
          </a:prstGeom>
          <a:noFill/>
          <a:ln>
            <a:noFill/>
          </a:ln>
        </p:spPr>
        <p:txBody>
          <a:bodyPr spcFirstLastPara="1" wrap="square" lIns="91425" tIns="45700" rIns="91425" bIns="45700" anchor="t" anchorCtr="0">
            <a:spAutoFit/>
          </a:bodyPr>
          <a:lstStyle/>
          <a:p>
            <a:pPr marL="342900" indent="-342900">
              <a:buFont typeface="Arial" panose="020B0604020202020204" pitchFamily="34" charset="0"/>
              <a:buChar char="•"/>
            </a:pPr>
            <a:r>
              <a:rPr lang="en-IN" sz="2000" dirty="0"/>
              <a:t>The system requires a sufficient amount of </a:t>
            </a:r>
            <a:r>
              <a:rPr lang="en-IN" sz="2000" dirty="0" err="1"/>
              <a:t>labeled</a:t>
            </a:r>
            <a:r>
              <a:rPr lang="en-IN" sz="2000" dirty="0"/>
              <a:t> complaint data for accurate training and classification.</a:t>
            </a:r>
          </a:p>
          <a:p>
            <a:endParaRPr lang="en-IN" sz="2000" dirty="0"/>
          </a:p>
          <a:p>
            <a:pPr marL="342900" indent="-342900">
              <a:buFont typeface="Arial" panose="020B0604020202020204" pitchFamily="34" charset="0"/>
              <a:buChar char="•"/>
            </a:pPr>
            <a:r>
              <a:rPr lang="en-IN" sz="2000" dirty="0"/>
              <a:t>Complaint categorization accuracy may be affected by ambiguous or incomplete complaint descriptions.</a:t>
            </a:r>
          </a:p>
          <a:p>
            <a:endParaRPr lang="en-IN" sz="2000" dirty="0"/>
          </a:p>
          <a:p>
            <a:pPr marL="342900" indent="-342900">
              <a:buFont typeface="Arial" panose="020B0604020202020204" pitchFamily="34" charset="0"/>
              <a:buChar char="•"/>
            </a:pPr>
            <a:r>
              <a:rPr lang="en-IN" sz="2000" dirty="0"/>
              <a:t>Urgency detection performance depends on the quality and diversity of training data.</a:t>
            </a:r>
          </a:p>
          <a:p>
            <a:endParaRPr lang="en-IN" sz="2000" dirty="0"/>
          </a:p>
          <a:p>
            <a:pPr marL="342900" indent="-342900">
              <a:buFont typeface="Arial" panose="020B0604020202020204" pitchFamily="34" charset="0"/>
              <a:buChar char="•"/>
            </a:pPr>
            <a:r>
              <a:rPr lang="en-IN" sz="2000" dirty="0"/>
              <a:t>System performance may decrease when handling large volumes of complaints simultaneously.</a:t>
            </a:r>
          </a:p>
          <a:p>
            <a:endParaRPr lang="en-IN" sz="2000" dirty="0"/>
          </a:p>
          <a:p>
            <a:pPr marL="342900" indent="-342900">
              <a:buFont typeface="Arial" panose="020B0604020202020204" pitchFamily="34" charset="0"/>
              <a:buChar char="•"/>
            </a:pPr>
            <a:r>
              <a:rPr lang="en-IN" sz="2000" dirty="0"/>
              <a:t>Regular model updates and maintenance are required to ensure accuracy and adaptability.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7"/>
          <p:cNvSpPr txBox="1">
            <a:spLocks noGrp="1"/>
          </p:cNvSpPr>
          <p:nvPr>
            <p:ph type="title"/>
          </p:nvPr>
        </p:nvSpPr>
        <p:spPr>
          <a:xfrm>
            <a:off x="1748861" y="695431"/>
            <a:ext cx="8610827" cy="742412"/>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3600"/>
              <a:buFont typeface="Times New Roman"/>
              <a:buNone/>
            </a:pPr>
            <a:r>
              <a:rPr lang="en-US" sz="3600" b="1">
                <a:latin typeface="Times New Roman"/>
                <a:ea typeface="Times New Roman"/>
                <a:cs typeface="Times New Roman"/>
                <a:sym typeface="Times New Roman"/>
              </a:rPr>
              <a:t>FUTURE SCOPE</a:t>
            </a:r>
            <a:endParaRPr/>
          </a:p>
        </p:txBody>
      </p:sp>
      <p:pic>
        <p:nvPicPr>
          <p:cNvPr id="261" name="Google Shape;261;p17" descr="A blue gear with a symbol and text&#10;&#10;AI-generated content may be incorrect."/>
          <p:cNvPicPr preferRelativeResize="0"/>
          <p:nvPr/>
        </p:nvPicPr>
        <p:blipFill rotWithShape="1">
          <a:blip r:embed="rId3">
            <a:alphaModFix/>
          </a:blip>
          <a:srcRect/>
          <a:stretch/>
        </p:blipFill>
        <p:spPr>
          <a:xfrm>
            <a:off x="9985505" y="333500"/>
            <a:ext cx="1414398" cy="1310145"/>
          </a:xfrm>
          <a:prstGeom prst="rect">
            <a:avLst/>
          </a:prstGeom>
          <a:noFill/>
          <a:ln>
            <a:noFill/>
          </a:ln>
        </p:spPr>
      </p:pic>
      <p:pic>
        <p:nvPicPr>
          <p:cNvPr id="262" name="Google Shape;262;p17" descr="A logo with blue green and orange letters&#10;&#10;AI-generated content may be incorrect."/>
          <p:cNvPicPr preferRelativeResize="0"/>
          <p:nvPr/>
        </p:nvPicPr>
        <p:blipFill rotWithShape="1">
          <a:blip r:embed="rId4">
            <a:alphaModFix/>
          </a:blip>
          <a:srcRect/>
          <a:stretch/>
        </p:blipFill>
        <p:spPr>
          <a:xfrm>
            <a:off x="964776" y="369811"/>
            <a:ext cx="1158267" cy="1393652"/>
          </a:xfrm>
          <a:prstGeom prst="rect">
            <a:avLst/>
          </a:prstGeom>
          <a:noFill/>
          <a:ln>
            <a:noFill/>
          </a:ln>
        </p:spPr>
      </p:pic>
      <p:sp>
        <p:nvSpPr>
          <p:cNvPr id="263" name="Google Shape;263;p17"/>
          <p:cNvSpPr txBox="1">
            <a:spLocks noGrp="1"/>
          </p:cNvSpPr>
          <p:nvPr>
            <p:ph type="body" idx="1"/>
          </p:nvPr>
        </p:nvSpPr>
        <p:spPr>
          <a:xfrm>
            <a:off x="1208598" y="1860605"/>
            <a:ext cx="10489977" cy="4627584"/>
          </a:xfrm>
          <a:prstGeom prst="rect">
            <a:avLst/>
          </a:prstGeom>
          <a:noFill/>
          <a:ln>
            <a:noFill/>
          </a:ln>
        </p:spPr>
        <p:txBody>
          <a:bodyPr spcFirstLastPara="1" wrap="square" lIns="91425" tIns="45700" rIns="91425" bIns="45700" anchor="ctr" anchorCtr="0">
            <a:noAutofit/>
          </a:bodyPr>
          <a:lstStyle/>
          <a:p>
            <a:r>
              <a:rPr lang="en-IN" sz="2200" dirty="0">
                <a:latin typeface="Times New Roman" panose="02020603050405020304" pitchFamily="18" charset="0"/>
                <a:cs typeface="Times New Roman" panose="02020603050405020304" pitchFamily="18" charset="0"/>
              </a:rPr>
              <a:t>A mobile application can be developed for easier complaint submission and tracking.</a:t>
            </a:r>
          </a:p>
          <a:p>
            <a:r>
              <a:rPr lang="en-IN" sz="2200" dirty="0">
                <a:latin typeface="Times New Roman" panose="02020603050405020304" pitchFamily="18" charset="0"/>
                <a:cs typeface="Times New Roman" panose="02020603050405020304" pitchFamily="18" charset="0"/>
              </a:rPr>
              <a:t>Complaint categorization accuracy can be improved using more advanced deep learning models.</a:t>
            </a:r>
          </a:p>
          <a:p>
            <a:r>
              <a:rPr lang="en-IN" sz="2200" dirty="0">
                <a:latin typeface="Times New Roman" panose="02020603050405020304" pitchFamily="18" charset="0"/>
                <a:cs typeface="Times New Roman" panose="02020603050405020304" pitchFamily="18" charset="0"/>
              </a:rPr>
              <a:t>Multilingual support can be added to handle complaints in different regional languages.</a:t>
            </a:r>
          </a:p>
          <a:p>
            <a:r>
              <a:rPr lang="en-IN" sz="2200" dirty="0">
                <a:latin typeface="Times New Roman" panose="02020603050405020304" pitchFamily="18" charset="0"/>
                <a:cs typeface="Times New Roman" panose="02020603050405020304" pitchFamily="18" charset="0"/>
              </a:rPr>
              <a:t>Cloud-based infrastructure can be expanded to manage large volumes of complaints efficiently.</a:t>
            </a:r>
          </a:p>
          <a:p>
            <a:r>
              <a:rPr lang="en-IN" sz="2200" dirty="0">
                <a:latin typeface="Times New Roman" panose="02020603050405020304" pitchFamily="18" charset="0"/>
                <a:cs typeface="Times New Roman" panose="02020603050405020304" pitchFamily="18" charset="0"/>
              </a:rPr>
              <a:t>The system can be integrated with government grievance management platforms.</a:t>
            </a:r>
          </a:p>
          <a:p>
            <a:r>
              <a:rPr lang="en-IN" sz="2200" dirty="0">
                <a:latin typeface="Times New Roman" panose="02020603050405020304" pitchFamily="18" charset="0"/>
                <a:cs typeface="Times New Roman" panose="02020603050405020304" pitchFamily="18" charset="0"/>
              </a:rPr>
              <a:t>Real-time notifications can be sent to citizens and authorities regarding complaint status updates.</a:t>
            </a:r>
          </a:p>
          <a:p>
            <a:r>
              <a:rPr lang="en-IN" sz="2200" dirty="0">
                <a:latin typeface="Times New Roman" panose="02020603050405020304" pitchFamily="18" charset="0"/>
                <a:cs typeface="Times New Roman" panose="02020603050405020304" pitchFamily="18" charset="0"/>
              </a:rPr>
              <a:t>Data analytics can be used to identify complaint trends and support better decision-making.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18"/>
          <p:cNvSpPr txBox="1">
            <a:spLocks noGrp="1"/>
          </p:cNvSpPr>
          <p:nvPr>
            <p:ph type="title"/>
          </p:nvPr>
        </p:nvSpPr>
        <p:spPr>
          <a:xfrm>
            <a:off x="2154936" y="256032"/>
            <a:ext cx="7879842" cy="1014984"/>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CONCLUSION</a:t>
            </a:r>
            <a:endParaRPr sz="4000" b="1" dirty="0"/>
          </a:p>
        </p:txBody>
      </p:sp>
      <p:grpSp>
        <p:nvGrpSpPr>
          <p:cNvPr id="269" name="Google Shape;269;p18"/>
          <p:cNvGrpSpPr/>
          <p:nvPr/>
        </p:nvGrpSpPr>
        <p:grpSpPr>
          <a:xfrm>
            <a:off x="2154936" y="1902943"/>
            <a:ext cx="8046156" cy="4356460"/>
            <a:chOff x="0" y="531"/>
            <a:chExt cx="8046156" cy="4356460"/>
          </a:xfrm>
        </p:grpSpPr>
        <p:sp>
          <p:nvSpPr>
            <p:cNvPr id="270" name="Google Shape;270;p18"/>
            <p:cNvSpPr/>
            <p:nvPr/>
          </p:nvSpPr>
          <p:spPr>
            <a:xfrm>
              <a:off x="0" y="531"/>
              <a:ext cx="7886700" cy="1244702"/>
            </a:xfrm>
            <a:prstGeom prst="roundRect">
              <a:avLst>
                <a:gd name="adj" fmla="val 1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18"/>
            <p:cNvSpPr/>
            <p:nvPr/>
          </p:nvSpPr>
          <p:spPr>
            <a:xfrm>
              <a:off x="331023" y="273968"/>
              <a:ext cx="684586" cy="684586"/>
            </a:xfrm>
            <a:prstGeom prst="rect">
              <a:avLst/>
            </a:prstGeom>
            <a:blipFill rotWithShape="1">
              <a:blip r:embed="rId3">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18"/>
            <p:cNvSpPr/>
            <p:nvPr/>
          </p:nvSpPr>
          <p:spPr>
            <a:xfrm>
              <a:off x="1437631" y="531"/>
              <a:ext cx="6449068" cy="124470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18"/>
            <p:cNvSpPr txBox="1"/>
            <p:nvPr/>
          </p:nvSpPr>
          <p:spPr>
            <a:xfrm>
              <a:off x="1278173" y="531"/>
              <a:ext cx="6767983" cy="1244702"/>
            </a:xfrm>
            <a:prstGeom prst="rect">
              <a:avLst/>
            </a:prstGeom>
            <a:noFill/>
            <a:ln>
              <a:noFill/>
            </a:ln>
          </p:spPr>
          <p:txBody>
            <a:bodyPr spcFirstLastPara="1" wrap="square" lIns="131725" tIns="131725" rIns="131725" bIns="131725" anchor="ctr" anchorCtr="0">
              <a:noAutofit/>
            </a:bodyPr>
            <a:lstStyle/>
            <a:p>
              <a:r>
                <a:rPr lang="en-IN" sz="2000" dirty="0">
                  <a:latin typeface="Times New Roman" panose="02020603050405020304" pitchFamily="18" charset="0"/>
                  <a:cs typeface="Times New Roman" panose="02020603050405020304" pitchFamily="18" charset="0"/>
                </a:rPr>
                <a:t>The Deep Learning-Driven Public Complaint Categorization and Urgency Detection Framework automates the classification of public complaints and identifies their urgency levels, reducing manual effort and improving response efficiency.</a:t>
              </a:r>
            </a:p>
          </p:txBody>
        </p:sp>
        <p:sp>
          <p:nvSpPr>
            <p:cNvPr id="274" name="Google Shape;274;p18"/>
            <p:cNvSpPr/>
            <p:nvPr/>
          </p:nvSpPr>
          <p:spPr>
            <a:xfrm>
              <a:off x="0" y="1502738"/>
              <a:ext cx="7886700" cy="1244702"/>
            </a:xfrm>
            <a:prstGeom prst="roundRect">
              <a:avLst>
                <a:gd name="adj" fmla="val 1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18"/>
            <p:cNvSpPr/>
            <p:nvPr/>
          </p:nvSpPr>
          <p:spPr>
            <a:xfrm>
              <a:off x="376522" y="1836468"/>
              <a:ext cx="684586" cy="684586"/>
            </a:xfrm>
            <a:prstGeom prst="rect">
              <a:avLst/>
            </a:prstGeom>
            <a:blipFill rotWithShape="1">
              <a:blip r:embed="rId4">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18"/>
            <p:cNvSpPr/>
            <p:nvPr/>
          </p:nvSpPr>
          <p:spPr>
            <a:xfrm>
              <a:off x="1437631" y="1556410"/>
              <a:ext cx="6449068" cy="124470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8"/>
            <p:cNvSpPr txBox="1"/>
            <p:nvPr/>
          </p:nvSpPr>
          <p:spPr>
            <a:xfrm>
              <a:off x="1597088" y="1514992"/>
              <a:ext cx="6449068" cy="1244702"/>
            </a:xfrm>
            <a:prstGeom prst="rect">
              <a:avLst/>
            </a:prstGeom>
            <a:noFill/>
            <a:ln>
              <a:noFill/>
            </a:ln>
          </p:spPr>
          <p:txBody>
            <a:bodyPr spcFirstLastPara="1" wrap="square" lIns="131725" tIns="131725" rIns="131725" bIns="131725" anchor="ctr" anchorCtr="0">
              <a:noAutofit/>
            </a:bodyPr>
            <a:lstStyle/>
            <a:p>
              <a:r>
                <a:rPr lang="en-IN" sz="2200" dirty="0">
                  <a:latin typeface="Times New Roman" panose="02020603050405020304" pitchFamily="18" charset="0"/>
                  <a:cs typeface="Times New Roman" panose="02020603050405020304" pitchFamily="18" charset="0"/>
                </a:rPr>
                <a:t>Deep learning algorithms are used to categorize public complaints and detect their urgency, ensuring accurate classification and efficient prioritization of critical issues.</a:t>
              </a:r>
            </a:p>
          </p:txBody>
        </p:sp>
        <p:sp>
          <p:nvSpPr>
            <p:cNvPr id="278" name="Google Shape;278;p18"/>
            <p:cNvSpPr/>
            <p:nvPr/>
          </p:nvSpPr>
          <p:spPr>
            <a:xfrm>
              <a:off x="0" y="3112289"/>
              <a:ext cx="7886700" cy="1244702"/>
            </a:xfrm>
            <a:prstGeom prst="roundRect">
              <a:avLst>
                <a:gd name="adj" fmla="val 1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18"/>
            <p:cNvSpPr/>
            <p:nvPr/>
          </p:nvSpPr>
          <p:spPr>
            <a:xfrm>
              <a:off x="376522" y="3392347"/>
              <a:ext cx="684586" cy="684586"/>
            </a:xfrm>
            <a:prstGeom prst="rect">
              <a:avLst/>
            </a:prstGeom>
            <a:blipFill rotWithShape="1">
              <a:blip r:embed="rId5">
                <a:alphaModFix/>
              </a:blip>
              <a:stretch>
                <a:fillRect/>
              </a:stretch>
            </a:bli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18"/>
            <p:cNvSpPr/>
            <p:nvPr/>
          </p:nvSpPr>
          <p:spPr>
            <a:xfrm>
              <a:off x="1437631" y="3112289"/>
              <a:ext cx="6449068" cy="1244702"/>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18"/>
            <p:cNvSpPr txBox="1"/>
            <p:nvPr/>
          </p:nvSpPr>
          <p:spPr>
            <a:xfrm>
              <a:off x="1437631" y="3112289"/>
              <a:ext cx="6449068" cy="1244702"/>
            </a:xfrm>
            <a:prstGeom prst="rect">
              <a:avLst/>
            </a:prstGeom>
            <a:noFill/>
            <a:ln>
              <a:noFill/>
            </a:ln>
          </p:spPr>
          <p:txBody>
            <a:bodyPr spcFirstLastPara="1" wrap="square" lIns="131725" tIns="131725" rIns="131725" bIns="131725" anchor="ctr" anchorCtr="0">
              <a:noAutofit/>
            </a:bodyPr>
            <a:lstStyle/>
            <a:p>
              <a:r>
                <a:rPr lang="en-IN" sz="2200" dirty="0">
                  <a:latin typeface="Times New Roman" panose="02020603050405020304" pitchFamily="18" charset="0"/>
                  <a:cs typeface="Times New Roman" panose="02020603050405020304" pitchFamily="18" charset="0"/>
                </a:rPr>
                <a:t>The intelligent dashboard converts complaint data into meaningful insights and reports, helping authorities monitor complaint trends, prioritize urgent issues, and make better decisions.</a:t>
              </a:r>
            </a:p>
          </p:txBody>
        </p:sp>
      </p:grpSp>
      <p:pic>
        <p:nvPicPr>
          <p:cNvPr id="282" name="Google Shape;282;p18" descr="A blue gear with a symbol and text&#10;&#10;AI-generated content may be incorrect."/>
          <p:cNvPicPr preferRelativeResize="0"/>
          <p:nvPr/>
        </p:nvPicPr>
        <p:blipFill rotWithShape="1">
          <a:blip r:embed="rId6">
            <a:alphaModFix/>
          </a:blip>
          <a:srcRect/>
          <a:stretch/>
        </p:blipFill>
        <p:spPr>
          <a:xfrm>
            <a:off x="10280932" y="369811"/>
            <a:ext cx="1414398" cy="1310145"/>
          </a:xfrm>
          <a:prstGeom prst="rect">
            <a:avLst/>
          </a:prstGeom>
          <a:noFill/>
          <a:ln>
            <a:noFill/>
          </a:ln>
        </p:spPr>
      </p:pic>
      <p:pic>
        <p:nvPicPr>
          <p:cNvPr id="283" name="Google Shape;283;p18" descr="A logo with blue green and orange letters&#10;&#10;AI-generated content may be incorrect."/>
          <p:cNvPicPr preferRelativeResize="0"/>
          <p:nvPr/>
        </p:nvPicPr>
        <p:blipFill rotWithShape="1">
          <a:blip r:embed="rId7">
            <a:alphaModFix/>
          </a:blip>
          <a:srcRect/>
          <a:stretch/>
        </p:blipFill>
        <p:spPr>
          <a:xfrm>
            <a:off x="541989" y="369812"/>
            <a:ext cx="1158267" cy="139365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4"/>
        <p:cNvGrpSpPr/>
        <p:nvPr/>
      </p:nvGrpSpPr>
      <p:grpSpPr>
        <a:xfrm>
          <a:off x="0" y="0"/>
          <a:ext cx="0" cy="0"/>
          <a:chOff x="0" y="0"/>
          <a:chExt cx="0" cy="0"/>
        </a:xfrm>
      </p:grpSpPr>
      <p:pic>
        <p:nvPicPr>
          <p:cNvPr id="295" name="Google Shape;295;p20" descr="Two cute robots"/>
          <p:cNvPicPr preferRelativeResize="0"/>
          <p:nvPr/>
        </p:nvPicPr>
        <p:blipFill rotWithShape="1">
          <a:blip r:embed="rId3">
            <a:alphaModFix/>
          </a:blip>
          <a:srcRect/>
          <a:stretch/>
        </p:blipFill>
        <p:spPr>
          <a:xfrm>
            <a:off x="0" y="-2"/>
            <a:ext cx="12262104" cy="6897433"/>
          </a:xfrm>
          <a:prstGeom prst="rect">
            <a:avLst/>
          </a:prstGeom>
          <a:noFill/>
          <a:ln>
            <a:noFill/>
          </a:ln>
        </p:spPr>
      </p:pic>
      <p:sp>
        <p:nvSpPr>
          <p:cNvPr id="296" name="Google Shape;296;p2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7" name="Google Shape;297;p20"/>
          <p:cNvSpPr/>
          <p:nvPr/>
        </p:nvSpPr>
        <p:spPr>
          <a:xfrm rot="-2700000" flipH="1">
            <a:off x="-376156" y="-253670"/>
            <a:ext cx="1827638" cy="1376989"/>
          </a:xfrm>
          <a:custGeom>
            <a:avLst/>
            <a:gdLst/>
            <a:ahLst/>
            <a:cxnLst/>
            <a:rect l="l" t="t" r="r" b="b"/>
            <a:pathLst>
              <a:path w="1827638" h="1376989" extrusionOk="0">
                <a:moveTo>
                  <a:pt x="0" y="987379"/>
                </a:moveTo>
                <a:lnTo>
                  <a:pt x="987379" y="0"/>
                </a:lnTo>
                <a:lnTo>
                  <a:pt x="1827638" y="840260"/>
                </a:lnTo>
                <a:lnTo>
                  <a:pt x="1827638" y="1376989"/>
                </a:lnTo>
                <a:lnTo>
                  <a:pt x="0" y="1376989"/>
                </a:lnTo>
                <a:close/>
              </a:path>
            </a:pathLst>
          </a:cu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8" name="Google Shape;298;p20"/>
          <p:cNvSpPr/>
          <p:nvPr/>
        </p:nvSpPr>
        <p:spPr>
          <a:xfrm rot="-2700000" flipH="1">
            <a:off x="891641" y="422146"/>
            <a:ext cx="645368" cy="645368"/>
          </a:xfrm>
          <a:prstGeom prst="rect">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9" name="Google Shape;299;p20"/>
          <p:cNvSpPr/>
          <p:nvPr/>
        </p:nvSpPr>
        <p:spPr>
          <a:xfrm rot="-2700000" flipH="1">
            <a:off x="10043482" y="655140"/>
            <a:ext cx="687472" cy="687472"/>
          </a:xfrm>
          <a:prstGeom prst="rect">
            <a:avLst/>
          </a:pr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0" name="Google Shape;300;p20"/>
          <p:cNvSpPr/>
          <p:nvPr/>
        </p:nvSpPr>
        <p:spPr>
          <a:xfrm rot="10800000" flipH="1">
            <a:off x="9356643" y="0"/>
            <a:ext cx="2835357" cy="1480837"/>
          </a:xfrm>
          <a:custGeom>
            <a:avLst/>
            <a:gdLst/>
            <a:ahLst/>
            <a:cxnLst/>
            <a:rect l="l" t="t" r="r" b="b"/>
            <a:pathLst>
              <a:path w="2835357" h="1480837" extrusionOk="0">
                <a:moveTo>
                  <a:pt x="2835357" y="1480837"/>
                </a:moveTo>
                <a:lnTo>
                  <a:pt x="0" y="1480837"/>
                </a:lnTo>
                <a:lnTo>
                  <a:pt x="1552727" y="0"/>
                </a:lnTo>
                <a:lnTo>
                  <a:pt x="2835357" y="1223245"/>
                </a:lnTo>
                <a:close/>
              </a:path>
            </a:pathLst>
          </a:custGeom>
          <a:solidFill>
            <a:schemeClr val="accent4">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1" name="Google Shape;301;p20"/>
          <p:cNvSpPr/>
          <p:nvPr/>
        </p:nvSpPr>
        <p:spPr>
          <a:xfrm flipH="1">
            <a:off x="7976344" y="6115501"/>
            <a:ext cx="1494513" cy="742499"/>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02" name="Google Shape;302;p20"/>
          <p:cNvSpPr/>
          <p:nvPr/>
        </p:nvSpPr>
        <p:spPr>
          <a:xfrm flipH="1">
            <a:off x="7604080" y="6453143"/>
            <a:ext cx="814903" cy="404857"/>
          </a:xfrm>
          <a:prstGeom prst="triangle">
            <a:avLst>
              <a:gd name="adj" fmla="val 50000"/>
            </a:avLst>
          </a:prstGeom>
          <a:solidFill>
            <a:schemeClr val="accent1">
              <a:alpha val="3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03" name="Google Shape;303;p20" descr="Handshake with solid fill"/>
          <p:cNvPicPr preferRelativeResize="0"/>
          <p:nvPr/>
        </p:nvPicPr>
        <p:blipFill rotWithShape="1">
          <a:blip r:embed="rId4">
            <a:alphaModFix/>
          </a:blip>
          <a:srcRect/>
          <a:stretch/>
        </p:blipFill>
        <p:spPr>
          <a:xfrm>
            <a:off x="3432509" y="1201175"/>
            <a:ext cx="5055246" cy="505524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969</Words>
  <Application>Microsoft Office PowerPoint</Application>
  <PresentationFormat>Widescreen</PresentationFormat>
  <Paragraphs>103</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Noto Sans Symbols</vt:lpstr>
      <vt:lpstr>Times New Roman</vt:lpstr>
      <vt:lpstr>Wingdings</vt:lpstr>
      <vt:lpstr>Office Theme</vt:lpstr>
      <vt:lpstr>Deep Learning-Driven Public Complaint Categorization and Urgency Detection Framework</vt:lpstr>
      <vt:lpstr>INTRODUCTION</vt:lpstr>
      <vt:lpstr>PROBLEM STATEMENT</vt:lpstr>
      <vt:lpstr>PowerPoint Presentation</vt:lpstr>
      <vt:lpstr>LITERATURE REVIEW </vt:lpstr>
      <vt:lpstr>SYSTEM ARCHITECTURE</vt:lpstr>
      <vt:lpstr>Module 1: Complaint Data Collection and Preprocessing</vt:lpstr>
      <vt:lpstr>Module 2:  Deep Learning-Based Complaint Categorization</vt:lpstr>
      <vt:lpstr>Module 3: Urgency Detection and Complaint Prioritization</vt:lpstr>
      <vt:lpstr>Module 4: Complaint Resolution, Monitoring and Feedback</vt:lpstr>
      <vt:lpstr>CHALLENGES &amp; LIMITATIONS</vt:lpstr>
      <vt:lpstr>FUTURE SCOPE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Kirthanaa Balaji</dc:creator>
  <cp:lastModifiedBy>madala meghanadh</cp:lastModifiedBy>
  <cp:revision>5</cp:revision>
  <dcterms:created xsi:type="dcterms:W3CDTF">2025-06-23T12:00:00Z</dcterms:created>
  <dcterms:modified xsi:type="dcterms:W3CDTF">2026-08-13T05:40:33Z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FF230CA4A29841F39FA30A26B84EDE3F_13</vt:lpwstr>
  </property>
  <property fmtid="{D5CDD505-2E9C-101B-9397-08002B2CF9AE}" pid="3" name="KSOProductBuildVer">
    <vt:lpwstr>1033-12.2.0.23155</vt:lpwstr>
  </property>
</Properties>
</file>