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autoCompressPictures="0">
  <p:sldMasterIdLst>
    <p:sldMasterId id="2147483648" r:id="rId1"/>
  </p:sldMasterIdLst>
  <p:notesMasterIdLst>
    <p:notesMasterId r:id="rId10"/>
  </p:notesMasterIdLst>
  <p:sldIdLst>
    <p:sldId id="256" r:id="rId2"/>
    <p:sldId id="258" r:id="rId3"/>
    <p:sldId id="286" r:id="rId4"/>
    <p:sldId id="285" r:id="rId5"/>
    <p:sldId id="288" r:id="rId6"/>
    <p:sldId id="292" r:id="rId7"/>
    <p:sldId id="291" r:id="rId8"/>
    <p:sldId id="271" r:id="rId9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defaultTextStyle>
  <p:extLst>
    <p:ext uri="{EFAFB233-063F-42B5-8137-9DF3F51BA10A}">
      <p15:sldGuideLst xmlns:p15="http://schemas.microsoft.com/office/powerpoint/2012/main">
        <p15:guide id="1" orient="horz" pos="1588" userDrawn="1">
          <p15:clr>
            <a:srgbClr val="747775"/>
          </p15:clr>
        </p15:guide>
        <p15:guide id="2" pos="2880" userDrawn="1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D7AC3CCA-C797-4891-BE02-D94E43425B78}" styleName="中度样式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103" d="100"/>
          <a:sy n="103" d="100"/>
        </p:scale>
        <p:origin x="874" y="77"/>
      </p:cViewPr>
      <p:guideLst>
        <p:guide orient="horz" pos="1588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 panose="020B0604020202020204"/>
      <a:defRPr sz="1400" b="0" i="0" u="none" strike="noStrike" cap="none">
        <a:solidFill>
          <a:srgbClr val="000000"/>
        </a:solidFill>
        <a:latin typeface="Arial" panose="020B0604020202020204"/>
        <a:ea typeface="Arial" panose="020B0604020202020204"/>
        <a:cs typeface="Arial" panose="020B0604020202020204"/>
        <a:sym typeface="Arial" panose="020B0604020202020204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362d33fbaba_0_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362d33fbaba_0_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Google Shape;175;g362d33fbaba_0_1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" name="Google Shape;176;g362d33fbaba_0_1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628650" y="4767263"/>
            <a:ext cx="2057400" cy="273844"/>
          </a:xfrm>
        </p:spPr>
        <p:txBody>
          <a:bodyPr/>
          <a:lstStyle/>
          <a:p>
            <a:fld id="{C764DE79-268F-4C1A-8933-263129D2AF90}" type="datetimeFigureOut">
              <a:rPr lang="en-US" dirty="0"/>
              <a:t>8/27/2026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028950" y="4767263"/>
            <a:ext cx="3086100" cy="273844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dirty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 lang="en-GB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60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 panose="020B0604020202020204"/>
        <a:defRPr sz="1400" b="0" i="0" u="none" strike="noStrike" cap="none">
          <a:solidFill>
            <a:srgbClr val="000000"/>
          </a:solidFill>
          <a:latin typeface="Arial" panose="020B0604020202020204"/>
          <a:ea typeface="Arial" panose="020B0604020202020204"/>
          <a:cs typeface="Arial" panose="020B0604020202020204"/>
          <a:sym typeface="Arial" panose="020B0604020202020204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.jpeg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>
            <a:spLocks noGrp="1"/>
          </p:cNvSpPr>
          <p:nvPr>
            <p:ph type="ctrTitle"/>
          </p:nvPr>
        </p:nvSpPr>
        <p:spPr>
          <a:xfrm>
            <a:off x="1290600" y="342100"/>
            <a:ext cx="6562800" cy="10422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 panose="02020603050405020304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SIMATS SCHOOL OF ENGINEERING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90"/>
              <a:buFont typeface="Times New Roman" panose="02020603050405020304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SAVEETHA INSTITUTE OF MEDICAL AND TECHNICAL SCIENCES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  <a:p>
            <a:pPr marL="0" lvl="0" indent="0" algn="ctr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n-GB" sz="1500" b="1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CHENNAI-602105</a:t>
            </a:r>
            <a:endParaRPr sz="150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5" name="Google Shape;55;p13"/>
          <p:cNvSpPr txBox="1">
            <a:spLocks noGrp="1"/>
          </p:cNvSpPr>
          <p:nvPr>
            <p:ph type="subTitle" idx="1"/>
          </p:nvPr>
        </p:nvSpPr>
        <p:spPr>
          <a:xfrm>
            <a:off x="463125" y="146057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algn="ctr"/>
            <a:r>
              <a:rPr lang="en-US" altLang="en-US" sz="1800" b="1" dirty="0">
                <a:solidFill>
                  <a:schemeClr val="tx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+mn-ea"/>
              </a:rPr>
              <a:t>Deep Boltzmann Machines</a:t>
            </a:r>
          </a:p>
          <a:p>
            <a:pPr algn="ctr"/>
            <a:endParaRPr lang="en-US" altLang="en-US" sz="1800" b="1" dirty="0">
              <a:solidFill>
                <a:schemeClr val="tx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+mn-ea"/>
            </a:endParaRPr>
          </a:p>
        </p:txBody>
      </p:sp>
      <p:sp>
        <p:nvSpPr>
          <p:cNvPr id="56" name="Google Shape;56;p13"/>
          <p:cNvSpPr txBox="1"/>
          <p:nvPr/>
        </p:nvSpPr>
        <p:spPr>
          <a:xfrm>
            <a:off x="2595880" y="2520315"/>
            <a:ext cx="4499610" cy="71056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alt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MLA0408</a:t>
            </a:r>
            <a:r>
              <a:rPr 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- </a:t>
            </a:r>
            <a:r>
              <a:rPr lang="en-US" altLang="en-IN" sz="15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Deep Learning with Application</a:t>
            </a:r>
            <a:endParaRPr lang="en-US" altLang="en-IN" sz="150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500" dirty="0">
              <a:solidFill>
                <a:schemeClr val="dk2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sp>
        <p:nvSpPr>
          <p:cNvPr id="57" name="Google Shape;57;p13"/>
          <p:cNvSpPr txBox="1"/>
          <p:nvPr/>
        </p:nvSpPr>
        <p:spPr>
          <a:xfrm>
            <a:off x="6381750" y="3057525"/>
            <a:ext cx="2762250" cy="176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lvl="0" algn="just"/>
            <a:r>
              <a:rPr lang="en-IN" dirty="0"/>
              <a:t>M.MEGHANADH-192325026</a:t>
            </a:r>
          </a:p>
        </p:txBody>
      </p:sp>
      <p:pic>
        <p:nvPicPr>
          <p:cNvPr id="58" name="Google Shape;58;p13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400" y="82900"/>
            <a:ext cx="849194" cy="1042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" name="Google Shape;59;p13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888973" y="135699"/>
            <a:ext cx="1022001" cy="9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Box 1"/>
          <p:cNvSpPr txBox="1"/>
          <p:nvPr/>
        </p:nvSpPr>
        <p:spPr>
          <a:xfrm>
            <a:off x="462915" y="3240405"/>
            <a:ext cx="1793240" cy="14109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noAutofit/>
          </a:bodyPr>
          <a:lstStyle/>
          <a:p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GB" dirty="0">
                <a:latin typeface="Times New Roman" panose="02020603050405020304"/>
                <a:ea typeface="Calibri" panose="020F0502020204030204"/>
                <a:cs typeface="Calibri" panose="020F0502020204030204"/>
                <a:sym typeface="+mn-ea"/>
              </a:rPr>
              <a:t>SIMATS Engineering</a:t>
            </a:r>
            <a:endParaRPr lang="en-GB" dirty="0">
              <a:latin typeface="Times New Roman" panose="02020603050405020304"/>
              <a:cs typeface="Times New Roman" panose="02020603050405020304"/>
            </a:endParaRPr>
          </a:p>
          <a:p>
            <a:endParaRPr lang="en-US" dirty="0"/>
          </a:p>
          <a:p>
            <a:endParaRPr lang="en-US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5"/>
          <p:cNvSpPr txBox="1">
            <a:spLocks noGrp="1"/>
          </p:cNvSpPr>
          <p:nvPr>
            <p:ph type="title"/>
          </p:nvPr>
        </p:nvSpPr>
        <p:spPr>
          <a:xfrm>
            <a:off x="390374" y="285637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 fontScale="90000"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b="1" dirty="0"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Introduction</a:t>
            </a:r>
            <a:endParaRPr b="1" dirty="0"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  <p:pic>
        <p:nvPicPr>
          <p:cNvPr id="75" name="Google Shape;75;p15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145400" y="82900"/>
            <a:ext cx="797025" cy="9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76" name="Google Shape;76;p15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7888973" y="135699"/>
            <a:ext cx="1022001" cy="9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558A47C-CB9C-2F78-B7EB-F4B697CFE8D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" y="1433492"/>
            <a:ext cx="8770512" cy="317009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Boltzmann Machines are stochastic, generative neural networks based on an energy function.       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They consist mainly of: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Layer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Layer(s)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Symmetric Weighted Connections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Deep Boltzmann Machine (DBM) extends this by: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Stacking multiple hidden layers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Connecting every layer to its neighbors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Allowing no connections within a layer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objective: Learn deep, hierarchical, and probabilistic representations of data.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endParaRPr kumimoji="0" lang="en-US" altLang="en-US" sz="16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Restricted Boltzmann Machine (RBM)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11784" y="1152524"/>
            <a:ext cx="6830695" cy="5850159"/>
          </a:xfrm>
        </p:spPr>
        <p:txBody>
          <a:bodyPr>
            <a:no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RBM is a two-layer stochastic network — the fundamental building block of a DBM.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Architecture:Visible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Layer ↔ Hidden Layer (fully connected, no intra-layer links)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Layer: Represents the observed input data.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Hidden Layer:Captures</a:t>
            </a: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latent features and correlations.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Energy Function: Defines a joint probability over visible and hidden units.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Applications: Feature learning, dimensionality reduction, and pretraining for deep networks.</a:t>
            </a:r>
          </a:p>
          <a:p>
            <a:pPr>
              <a:buFont typeface="Arial" panose="020B0604020202020204" pitchFamily="34" charset="0"/>
              <a:buChar char="•"/>
            </a:pPr>
            <a:endParaRPr 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logo with blue green and orange lett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81940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logo with blue green and orange lett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5415" y="100965"/>
            <a:ext cx="804545" cy="956310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13395" y="141605"/>
            <a:ext cx="989965" cy="876300"/>
          </a:xfrm>
          <a:prstGeom prst="rect">
            <a:avLst/>
          </a:prstGeom>
        </p:spPr>
      </p:pic>
      <p:sp>
        <p:nvSpPr>
          <p:cNvPr id="8" name="Title 7">
            <a:extLst>
              <a:ext uri="{FF2B5EF4-FFF2-40B4-BE49-F238E27FC236}">
                <a16:creationId xmlns:a16="http://schemas.microsoft.com/office/drawing/2014/main" id="{232E27DD-73DD-5C83-F5E2-883DD0FA3B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0" y="1175360"/>
            <a:ext cx="3312160" cy="3711600"/>
          </a:xfrm>
        </p:spPr>
        <p:txBody>
          <a:bodyPr/>
          <a:lstStyle/>
          <a:p>
            <a:br>
              <a:rPr lang="en-US" dirty="0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br>
              <a:rPr lang="en-IN"/>
            </a:br>
            <a:endParaRPr lang="en-IN"/>
          </a:p>
        </p:txBody>
      </p:sp>
      <p:sp>
        <p:nvSpPr>
          <p:cNvPr id="5" name="Rectangle 1">
            <a:extLst>
              <a:ext uri="{FF2B5EF4-FFF2-40B4-BE49-F238E27FC236}">
                <a16:creationId xmlns:a16="http://schemas.microsoft.com/office/drawing/2014/main" id="{5BC93030-9571-F833-AD32-9E21ED8B22C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1206781" y="194985"/>
            <a:ext cx="7151607" cy="76944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indent="0" eaLnBrk="0" fontAlgn="base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None/>
            </a:pPr>
            <a:r>
              <a:rPr lang="en-IN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Learning Mechanism of DBM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2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4B8EF34-4C7B-23DA-80C7-624B6853987D}"/>
              </a:ext>
            </a:extLst>
          </p:cNvPr>
          <p:cNvSpPr txBox="1"/>
          <p:nvPr/>
        </p:nvSpPr>
        <p:spPr>
          <a:xfrm>
            <a:off x="949960" y="1384479"/>
            <a:ext cx="6934200" cy="206210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DBM training combines unsupervised layer-wise pretraining with joint fine-tuning of all layers together.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b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Layer-wise Pretraining → Stack RBMs → Joint Training → Fine-Tuned DBM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Gibbs sampling to draw values for hidden and visible units.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Applies Contrastive Divergence (CD) to approximate gradients.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Uses mean-field variational inference for the positive phase.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Fine-tunes weights across the whole network for accurate inference.</a:t>
            </a:r>
          </a:p>
        </p:txBody>
      </p:sp>
    </p:spTree>
    <p:extLst>
      <p:ext uri="{BB962C8B-B14F-4D97-AF65-F5344CB8AC3E}">
        <p14:creationId xmlns:p14="http://schemas.microsoft.com/office/powerpoint/2010/main" val="408768007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Visible–Hidden Layer Interaction</a:t>
            </a:r>
            <a:endParaRPr lang="en-US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and hidden units interact through symmetric, undirected weighted connections defined by an energy function.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Working:</a:t>
            </a:r>
            <a:b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Visible Layer ↔ Hidden Layer 1 ↔ Hidden Layer 2 ↔ ... ↔ Hidden Layer L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unit's state depends on weighted input from adjacent layers only.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 visible-visible or hidden-hidden connections exist within a layer.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Lower-energy configurations correspond to higher joint probability.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bidirectional flow lets top layers refine the interpretation of lower layers.</a:t>
            </a:r>
          </a:p>
        </p:txBody>
      </p:sp>
      <p:pic>
        <p:nvPicPr>
          <p:cNvPr id="10" name="Picture 9" descr="A logo with blue green and orange lett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76225"/>
            <a:ext cx="989965" cy="8763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b="1" dirty="0"/>
              <a:t>Comparison of the Approaches</a:t>
            </a:r>
            <a:endParaRPr lang="en-IN" dirty="0">
              <a:effectLst/>
            </a:endParaRPr>
          </a:p>
        </p:txBody>
      </p:sp>
      <p:pic>
        <p:nvPicPr>
          <p:cNvPr id="10" name="Picture 9" descr="A logo with blue green and orange lett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3695" y="276225"/>
            <a:ext cx="989965" cy="876300"/>
          </a:xfrm>
          <a:prstGeom prst="rect">
            <a:avLst/>
          </a:prstGeom>
        </p:spPr>
      </p:pic>
      <p:sp>
        <p:nvSpPr>
          <p:cNvPr id="6" name="Rectangle 3">
            <a:extLst>
              <a:ext uri="{FF2B5EF4-FFF2-40B4-BE49-F238E27FC236}">
                <a16:creationId xmlns:a16="http://schemas.microsoft.com/office/drawing/2014/main" id="{6DD9647D-2748-13D8-2204-A64B9898221D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700" y="1829624"/>
            <a:ext cx="7949612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kumimoji="0" lang="en-US" altLang="en-US" sz="16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endParaRPr lang="en-US" altLang="en-US" sz="1600" b="1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Boltzmann Machine (BM):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Fully connected; computationally intractable for large networks.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Restricted BM (RBM):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Two layers only; efficient but limited representational depth.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Boltzmann Machine (DBM):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Multiple hidden layers; learns deep, hierarchical features.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Boltzmann Machine (BM):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Best for small-scale theoretical modeling.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Restricted BM (RBM):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Best for fast pretraining and simple feature extraction.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Boltzmann Machine (DBM):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Best for complex pattern recognition and robust generative modeling.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pPr algn="ctr"/>
            <a:r>
              <a:rPr lang="en-IN" dirty="0"/>
              <a:t>Conclusion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0" name="Picture 9" descr="A logo with blue green and orange letters&#10;&#10;AI-generated content may be incorrect.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167640"/>
            <a:ext cx="804545" cy="956310"/>
          </a:xfrm>
          <a:prstGeom prst="rect">
            <a:avLst/>
          </a:prstGeom>
        </p:spPr>
      </p:pic>
      <p:pic>
        <p:nvPicPr>
          <p:cNvPr id="13" name="Picture 12" descr="A blue gear with a symbol and text&#10;&#10;AI-generated content may be incorrect.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18145" y="276225"/>
            <a:ext cx="989965" cy="876300"/>
          </a:xfrm>
          <a:prstGeom prst="rect">
            <a:avLst/>
          </a:prstGeom>
        </p:spPr>
      </p:pic>
      <p:sp>
        <p:nvSpPr>
          <p:cNvPr id="4" name="Rectangle 1">
            <a:extLst>
              <a:ext uri="{FF2B5EF4-FFF2-40B4-BE49-F238E27FC236}">
                <a16:creationId xmlns:a16="http://schemas.microsoft.com/office/drawing/2014/main" id="{51987C8D-C096-7DDE-FE3F-C0D0A220BA0A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311700" y="2322065"/>
            <a:ext cx="8839279" cy="107721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Deep Boltzmann Machines stack multiple hidden layers connected through undirected, symmetric weights.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Layer-wise pretraining plus joint fine-tuning enables deep, robust feature learning.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DBMs outperform conventional Boltzmann Machines in scalability, robustness, and representational power.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6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DBMs suit tasks like digit and image recognition, where hierarchical, probabilistic features matter most. 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Google Shape;178;p28" title="Gemini_Generated_Image_mreu4bmreu4bmreu.png"/>
          <p:cNvPicPr preferRelativeResize="0"/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2969662" y="1444733"/>
            <a:ext cx="3204675" cy="3204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79" name="Google Shape;179;p28"/>
          <p:cNvPicPr preferRelativeResize="0"/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45400" y="82900"/>
            <a:ext cx="797025" cy="9781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80" name="Google Shape;180;p28"/>
          <p:cNvPicPr preferRelativeResize="0"/>
          <p:nvPr/>
        </p:nvPicPr>
        <p:blipFill rotWithShape="1">
          <a:blip r:embed="rId5"/>
          <a:srcRect/>
          <a:stretch>
            <a:fillRect/>
          </a:stretch>
        </p:blipFill>
        <p:spPr>
          <a:xfrm>
            <a:off x="7888973" y="135699"/>
            <a:ext cx="1022001" cy="936600"/>
          </a:xfrm>
          <a:prstGeom prst="rect">
            <a:avLst/>
          </a:prstGeom>
          <a:noFill/>
          <a:ln>
            <a:noFill/>
          </a:ln>
        </p:spPr>
      </p:pic>
      <p:sp>
        <p:nvSpPr>
          <p:cNvPr id="181" name="Google Shape;181;p28"/>
          <p:cNvSpPr txBox="1"/>
          <p:nvPr/>
        </p:nvSpPr>
        <p:spPr>
          <a:xfrm>
            <a:off x="2813362" y="443750"/>
            <a:ext cx="3204674" cy="75122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3400" b="1" dirty="0">
                <a:solidFill>
                  <a:schemeClr val="dk1"/>
                </a:solidFill>
                <a:latin typeface="Times New Roman" panose="02020603050405020304"/>
                <a:ea typeface="Times New Roman" panose="02020603050405020304"/>
                <a:cs typeface="Times New Roman" panose="02020603050405020304"/>
                <a:sym typeface="Times New Roman" panose="02020603050405020304"/>
              </a:rPr>
              <a:t>Thank You !</a:t>
            </a:r>
            <a:endParaRPr sz="3400" b="1" dirty="0">
              <a:solidFill>
                <a:schemeClr val="dk1"/>
              </a:solidFill>
              <a:latin typeface="Times New Roman" panose="02020603050405020304"/>
              <a:ea typeface="Times New Roman" panose="02020603050405020304"/>
              <a:cs typeface="Times New Roman" panose="02020603050405020304"/>
              <a:sym typeface="Times New Roman" panose="02020603050405020304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63</TotalTime>
  <Words>495</Words>
  <Application>Microsoft Office PowerPoint</Application>
  <PresentationFormat>On-screen Show (16:9)</PresentationFormat>
  <Paragraphs>56</Paragraphs>
  <Slides>8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Times New Roman</vt:lpstr>
      <vt:lpstr>Simple Light</vt:lpstr>
      <vt:lpstr>SIMATS SCHOOL OF ENGINEERING SAVEETHA INSTITUTE OF MEDICAL AND TECHNICAL SCIENCES CHENNAI-602105</vt:lpstr>
      <vt:lpstr>Introduction</vt:lpstr>
      <vt:lpstr>Restricted Boltzmann Machine (RBM)</vt:lpstr>
      <vt:lpstr>       </vt:lpstr>
      <vt:lpstr>Visible–Hidden Layer Interaction</vt:lpstr>
      <vt:lpstr>Comparison of the Approaches</vt:lpstr>
      <vt:lpstr>Conclusion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SIMATS SCHOOL OF ENGINEERING SAVEETHA INSTITUTE OF MEDICAL AND TECHNICAL SCIENCES CHENNAI-602105</dc:title>
  <dc:creator>hp</dc:creator>
  <cp:lastModifiedBy>madala meghanadh</cp:lastModifiedBy>
  <cp:revision>22</cp:revision>
  <dcterms:created xsi:type="dcterms:W3CDTF">2026-01-22T13:37:00Z</dcterms:created>
  <dcterms:modified xsi:type="dcterms:W3CDTF">2026-08-27T03:58:28Z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5BD4ACDF81DC48B7B54FD30B958FC51A_13</vt:lpwstr>
  </property>
  <property fmtid="{D5CDD505-2E9C-101B-9397-08002B2CF9AE}" pid="3" name="KSOProductBuildVer">
    <vt:lpwstr>1033-12.2.0.23196</vt:lpwstr>
  </property>
</Properties>
</file>